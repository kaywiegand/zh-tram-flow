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Crimson Pro Medium"/>
      <p:regular r:id="rId201314"/>
    </p:embeddedFont>
    <p:embeddedFont>
      <p:font typeface="Crimson Pro ExtraBold"/>
      <p:regular r:id="rId201315"/>
    </p:embeddedFont>
    <p:embeddedFont>
      <p:font typeface="Crimson Pro Black"/>
      <p:regular r:id="rId201316"/>
    </p:embeddedFont>
    <p:embeddedFont>
      <p:font typeface="Crimson Pro ExtraLight"/>
      <p:regular r:id="rId201317"/>
    </p:embeddedFont>
    <p:embeddedFont>
      <p:font typeface="Crimson Pro Light"/>
      <p:regular r:id="rId201318"/>
    </p:embeddedFont>
    <p:embeddedFont>
      <p:font typeface="Crimson Pro"/>
      <p:regular r:id="rId201319"/>
    </p:embeddedFont>
    <p:embeddedFont>
      <p:font typeface="Crimson Pro SemiBold"/>
      <p:regular r:id="rId201320"/>
    </p:embeddedFont>
    <p:embeddedFont>
      <p:font typeface="Crimson Pro Bold"/>
      <p:regular r:id="rId201321"/>
    </p:embeddedFont>
    <p:embeddedFont>
      <p:font typeface="Heebo Thin"/>
      <p:regular r:id="rId201322"/>
    </p:embeddedFont>
    <p:embeddedFont>
      <p:font typeface="Heebo ExtraLight"/>
      <p:regular r:id="rId201323"/>
    </p:embeddedFont>
    <p:embeddedFont>
      <p:font typeface="Heebo Light"/>
      <p:regular r:id="rId201324"/>
    </p:embeddedFont>
    <p:embeddedFont>
      <p:font typeface="Heebo"/>
      <p:regular r:id="rId201325"/>
    </p:embeddedFont>
    <p:embeddedFont>
      <p:font typeface="Heebo Medium"/>
      <p:regular r:id="rId201326"/>
    </p:embeddedFont>
    <p:embeddedFont>
      <p:font typeface="Heebo SemiBold"/>
      <p:regular r:id="rId201327"/>
    </p:embeddedFont>
    <p:embeddedFont>
      <p:font typeface="Heebo Bold"/>
      <p:regular r:id="rId201328"/>
    </p:embeddedFont>
    <p:embeddedFont>
      <p:font typeface="Heebo ExtraBold"/>
      <p:regular r:id="rId201329"/>
    </p:embeddedFont>
    <p:embeddedFont>
      <p:font typeface="Heebo Black"/>
      <p:regular r:id="rId2013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 Id="rId201334" Target="fonts/201334.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7" Type="http://schemas.openxmlformats.org/officeDocument/2006/relationships/hyperlink" Target="https://github.com/kaywiegand/zh-tram-flow" TargetMode="External"/><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8" Type="http://schemas.openxmlformats.org/officeDocument/2006/relationships/image" Target="../media/image-9-7.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 TargetMode="External"/><Relationship Id="rId6" Type="http://schemas.openxmlformats.org/officeDocument/2006/relationships/hyperlink" Target="https://github.com/kaywiegand/zh-tram-flow" TargetMode="External"/><Relationship Id="rId1"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408584"/>
            <a:ext cx="4722763" cy="1162645"/>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52D47"/>
                </a:solidFill>
                <a:latin typeface="Crimson Pro SemiBold" pitchFamily="34" charset="0"/>
                <a:ea typeface="Crimson Pro SemiBold" pitchFamily="34" charset="-122"/>
                <a:cs typeface="Crimson Pro SemiBold" pitchFamily="34" charset="-120"/>
              </a:rPr>
              <a:t>Ergebnisse &amp; Handlungsempfehlungen: Zürich Tram Flow</a:t>
            </a:r>
            <a:endParaRPr lang="en-US" sz="2400" dirty="0"/>
          </a:p>
        </p:txBody>
      </p:sp>
      <p:sp>
        <p:nvSpPr>
          <p:cNvPr id="4" name="Text 1"/>
          <p:cNvSpPr/>
          <p:nvPr/>
        </p:nvSpPr>
        <p:spPr>
          <a:xfrm>
            <a:off x="3925119" y="2757264"/>
            <a:ext cx="4722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D"/>
                </a:solidFill>
                <a:latin typeface="Heebo" pitchFamily="34" charset="0"/>
                <a:ea typeface="Heebo" pitchFamily="34" charset="-122"/>
                <a:cs typeface="Heebo" pitchFamily="34" charset="-120"/>
              </a:rPr>
              <a:t>Eine datengetriebene Analyse der Pünktlichkeit im Zürcher Tramnetz – von der Diagnose struktureller Engpässe bis zu konkreten, umsetzbaren Massnahmen für HR, Business und Hiring Manager.</a:t>
            </a:r>
            <a:endParaRPr lang="en-US" sz="950" dirty="0"/>
          </a:p>
        </p:txBody>
      </p:sp>
      <p:sp>
        <p:nvSpPr>
          <p:cNvPr id="5" name="Shape 2"/>
          <p:cNvSpPr/>
          <p:nvPr/>
        </p:nvSpPr>
        <p:spPr>
          <a:xfrm>
            <a:off x="3925119" y="3496940"/>
            <a:ext cx="2084561" cy="233214"/>
          </a:xfrm>
          <a:prstGeom prst="roundRect">
            <a:avLst>
              <a:gd name="adj" fmla="val 6383"/>
            </a:avLst>
          </a:prstGeom>
          <a:solidFill>
            <a:srgbClr val="CCD7FF"/>
          </a:solidFill>
          <a:ln/>
        </p:spPr>
      </p:sp>
      <p:sp>
        <p:nvSpPr>
          <p:cNvPr id="6" name="Text 3"/>
          <p:cNvSpPr/>
          <p:nvPr/>
        </p:nvSpPr>
        <p:spPr>
          <a:xfrm>
            <a:off x="3999533" y="3534147"/>
            <a:ext cx="2392933" cy="158800"/>
          </a:xfrm>
          <a:prstGeom prst="rect">
            <a:avLst/>
          </a:prstGeom>
          <a:noFill/>
          <a:ln/>
        </p:spPr>
        <p:txBody>
          <a:bodyPr wrap="none" lIns="0" tIns="0" rIns="0" bIns="0" rtlCol="0" anchor="t"/>
          <a:lstStyle/>
          <a:p>
            <a:pPr algn="l" indent="0" marL="0">
              <a:lnSpc>
                <a:spcPct val="133000"/>
              </a:lnSpc>
              <a:buNone/>
            </a:pPr>
            <a:r>
              <a:rPr lang="en-US" sz="750" dirty="0">
                <a:solidFill>
                  <a:srgbClr val="4C4C4D"/>
                </a:solidFill>
                <a:latin typeface="Heebo" pitchFamily="34" charset="0"/>
                <a:ea typeface="Heebo" pitchFamily="34" charset="-122"/>
                <a:cs typeface="Heebo" pitchFamily="34" charset="-120"/>
              </a:rPr>
              <a:t>PROJEKT: ZÜRICH TRAM FLOW 2023–2025</a:t>
            </a:r>
            <a:endParaRPr lang="en-US" sz="750" dirty="0"/>
          </a:p>
        </p:txBody>
      </p:sp>
      <p:sp>
        <p:nvSpPr>
          <p:cNvPr id="7" name="Shape 4"/>
          <p:cNvSpPr/>
          <p:nvPr/>
        </p:nvSpPr>
        <p:spPr>
          <a:xfrm>
            <a:off x="6071667" y="3492178"/>
            <a:ext cx="1166440" cy="242739"/>
          </a:xfrm>
          <a:prstGeom prst="roundRect">
            <a:avLst>
              <a:gd name="adj" fmla="val 6132"/>
            </a:avLst>
          </a:prstGeom>
          <a:noFill/>
          <a:ln w="4763">
            <a:solidFill>
              <a:srgbClr val="2150FE"/>
            </a:solidFill>
            <a:prstDash val="solid"/>
          </a:ln>
        </p:spPr>
      </p:sp>
      <p:sp>
        <p:nvSpPr>
          <p:cNvPr id="8" name="Text 5"/>
          <p:cNvSpPr/>
          <p:nvPr/>
        </p:nvSpPr>
        <p:spPr>
          <a:xfrm>
            <a:off x="6150843" y="3534147"/>
            <a:ext cx="1465287" cy="158800"/>
          </a:xfrm>
          <a:prstGeom prst="rect">
            <a:avLst/>
          </a:prstGeom>
          <a:noFill/>
          <a:ln/>
        </p:spPr>
        <p:txBody>
          <a:bodyPr wrap="none" lIns="0" tIns="0" rIns="0" bIns="0" rtlCol="0" anchor="t"/>
          <a:lstStyle/>
          <a:p>
            <a:pPr algn="l" indent="0" marL="0">
              <a:lnSpc>
                <a:spcPct val="133000"/>
              </a:lnSpc>
              <a:buNone/>
            </a:pPr>
            <a:r>
              <a:rPr lang="en-US" sz="750" dirty="0">
                <a:solidFill>
                  <a:srgbClr val="2150FE"/>
                </a:solidFill>
                <a:latin typeface="Heebo" pitchFamily="34" charset="0"/>
                <a:ea typeface="Heebo" pitchFamily="34" charset="-122"/>
                <a:cs typeface="Heebo" pitchFamily="34" charset="-120"/>
              </a:rPr>
              <a:t>AUTOR: KAY WIEGAND</a:t>
            </a:r>
            <a:endParaRPr lang="en-US" sz="750" dirty="0"/>
          </a:p>
        </p:txBody>
      </p:sp>
      <p:sp>
        <p:nvSpPr>
          <p:cNvPr id="9" name="Shape 6"/>
          <p:cNvSpPr/>
          <p:nvPr/>
        </p:nvSpPr>
        <p:spPr>
          <a:xfrm>
            <a:off x="7300094" y="3492178"/>
            <a:ext cx="1089124" cy="242739"/>
          </a:xfrm>
          <a:prstGeom prst="roundRect">
            <a:avLst>
              <a:gd name="adj" fmla="val 6132"/>
            </a:avLst>
          </a:prstGeom>
          <a:noFill/>
          <a:ln w="4763">
            <a:solidFill>
              <a:srgbClr val="2150FE"/>
            </a:solidFill>
            <a:prstDash val="solid"/>
          </a:ln>
        </p:spPr>
      </p:sp>
      <p:sp>
        <p:nvSpPr>
          <p:cNvPr id="10" name="Text 7"/>
          <p:cNvSpPr/>
          <p:nvPr/>
        </p:nvSpPr>
        <p:spPr>
          <a:xfrm>
            <a:off x="7379271" y="3534147"/>
            <a:ext cx="1387971" cy="158800"/>
          </a:xfrm>
          <a:prstGeom prst="rect">
            <a:avLst/>
          </a:prstGeom>
          <a:noFill/>
          <a:ln/>
        </p:spPr>
        <p:txBody>
          <a:bodyPr wrap="none" lIns="0" tIns="0" rIns="0" bIns="0" rtlCol="0" anchor="t"/>
          <a:lstStyle/>
          <a:p>
            <a:pPr algn="l" indent="0" marL="0">
              <a:lnSpc>
                <a:spcPct val="133000"/>
              </a:lnSpc>
              <a:buNone/>
            </a:pPr>
            <a:r>
              <a:rPr lang="en-US" sz="750" dirty="0">
                <a:solidFill>
                  <a:srgbClr val="2150FE"/>
                </a:solidFill>
                <a:latin typeface="Heebo" pitchFamily="34" charset="0"/>
                <a:ea typeface="Heebo" pitchFamily="34" charset="-122"/>
                <a:cs typeface="Heebo" pitchFamily="34" charset="-120"/>
              </a:rPr>
              <a:t>DAUER: 10 MINUTEN</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53764"/>
            <a:ext cx="3316039" cy="357336"/>
          </a:xfrm>
          <a:prstGeom prst="rect">
            <a:avLst/>
          </a:prstGeom>
          <a:noFill/>
          <a:ln/>
        </p:spPr>
        <p:txBody>
          <a:bodyPr wrap="none" lIns="0" tIns="0" rIns="0" bIns="0" rtlCol="0" anchor="t"/>
          <a:lstStyle/>
          <a:p>
            <a:pPr algn="l" indent="0" marL="0">
              <a:lnSpc>
                <a:spcPct val="104000"/>
              </a:lnSpc>
              <a:buNone/>
            </a:pPr>
            <a:r>
              <a:rPr lang="en-US" sz="2250" dirty="0">
                <a:solidFill>
                  <a:srgbClr val="152D47"/>
                </a:solidFill>
                <a:latin typeface="Crimson Pro SemiBold" pitchFamily="34" charset="0"/>
                <a:ea typeface="Crimson Pro SemiBold" pitchFamily="34" charset="-122"/>
                <a:cs typeface="Crimson Pro SemiBold" pitchFamily="34" charset="-120"/>
              </a:rPr>
              <a:t>Agenda</a:t>
            </a:r>
            <a:endParaRPr lang="en-US" sz="2250" dirty="0"/>
          </a:p>
        </p:txBody>
      </p:sp>
      <p:sp>
        <p:nvSpPr>
          <p:cNvPr id="3" name="Text 1"/>
          <p:cNvSpPr/>
          <p:nvPr/>
        </p:nvSpPr>
        <p:spPr>
          <a:xfrm>
            <a:off x="496119" y="921916"/>
            <a:ext cx="8151763" cy="527521"/>
          </a:xfrm>
          <a:prstGeom prst="rect">
            <a:avLst/>
          </a:prstGeom>
          <a:noFill/>
          <a:ln/>
        </p:spPr>
        <p:txBody>
          <a:bodyPr wrap="square" lIns="0" tIns="0" rIns="0" bIns="0" rtlCol="0" anchor="t">
            <a:normAutofit/>
          </a:bodyPr>
          <a:lstStyle/>
          <a:p>
            <a:pPr algn="l" indent="0" marL="0">
              <a:lnSpc>
                <a:spcPct val="128000"/>
              </a:lnSpc>
              <a:buNone/>
            </a:pPr>
            <a:r>
              <a:rPr lang="en-US" sz="900" dirty="0">
                <a:solidFill>
                  <a:srgbClr val="4C4C4D"/>
                </a:solidFill>
                <a:latin typeface="Heebo" pitchFamily="34" charset="0"/>
                <a:ea typeface="Heebo" pitchFamily="34" charset="-122"/>
                <a:cs typeface="Heebo" pitchFamily="34" charset="-120"/>
              </a:rPr>
              <a:t>Diese Präsentation führt Sie durch sieben aufeinander aufbauende Kapitel – von der Diagnose der aktuellen Lage über überraschende Befunde und die zentrale Erkenntnis bis hin zu einem prädiktiven Modell, konkreten Handlungsempfehlungen und dem übergeordneten Projektrahmen. Jeder Abschnitt baut auf dem vorherigen auf und mündet in handfeste, datengestützte Schlussfolgerungen.</a:t>
            </a:r>
            <a:endParaRPr lang="en-US" sz="900" dirty="0"/>
          </a:p>
        </p:txBody>
      </p:sp>
      <p:sp>
        <p:nvSpPr>
          <p:cNvPr id="4" name="Text 2"/>
          <p:cNvSpPr/>
          <p:nvPr/>
        </p:nvSpPr>
        <p:spPr>
          <a:xfrm>
            <a:off x="496119" y="1567979"/>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4C4C4D"/>
                </a:solidFill>
                <a:latin typeface="Crimson Pro Light" pitchFamily="34" charset="0"/>
                <a:ea typeface="Crimson Pro Light" pitchFamily="34" charset="-122"/>
                <a:cs typeface="Crimson Pro Light" pitchFamily="34" charset="-120"/>
              </a:rPr>
              <a:t>01</a:t>
            </a:r>
            <a:endParaRPr lang="en-US" sz="900" dirty="0"/>
          </a:p>
        </p:txBody>
      </p:sp>
      <p:sp>
        <p:nvSpPr>
          <p:cNvPr id="5" name="Shape 3"/>
          <p:cNvSpPr/>
          <p:nvPr/>
        </p:nvSpPr>
        <p:spPr>
          <a:xfrm>
            <a:off x="496119" y="1747986"/>
            <a:ext cx="2646983" cy="14288"/>
          </a:xfrm>
          <a:prstGeom prst="rect">
            <a:avLst/>
          </a:prstGeom>
          <a:solidFill>
            <a:srgbClr val="2150FE"/>
          </a:solidFill>
          <a:ln/>
        </p:spPr>
      </p:sp>
      <p:sp>
        <p:nvSpPr>
          <p:cNvPr id="6" name="Text 4"/>
          <p:cNvSpPr/>
          <p:nvPr/>
        </p:nvSpPr>
        <p:spPr>
          <a:xfrm>
            <a:off x="496119" y="1833711"/>
            <a:ext cx="1429420" cy="178668"/>
          </a:xfrm>
          <a:prstGeom prst="rect">
            <a:avLst/>
          </a:prstGeom>
          <a:noFill/>
          <a:ln/>
        </p:spPr>
        <p:txBody>
          <a:bodyPr wrap="none" lIns="0" tIns="0" rIns="0" bIns="0" rtlCol="0" anchor="t"/>
          <a:lstStyle/>
          <a:p>
            <a:pPr algn="l" indent="0" marL="0">
              <a:lnSpc>
                <a:spcPct val="104000"/>
              </a:lnSpc>
              <a:buNone/>
            </a:pPr>
            <a:r>
              <a:rPr lang="en-US" sz="1100" dirty="0">
                <a:solidFill>
                  <a:srgbClr val="4C4C4D"/>
                </a:solidFill>
                <a:latin typeface="Crimson Pro SemiBold" pitchFamily="34" charset="0"/>
                <a:ea typeface="Crimson Pro SemiBold" pitchFamily="34" charset="-122"/>
                <a:cs typeface="Crimson Pro SemiBold" pitchFamily="34" charset="-120"/>
              </a:rPr>
              <a:t>Die Ausgangssituation</a:t>
            </a:r>
            <a:endParaRPr lang="en-US" sz="1100" dirty="0"/>
          </a:p>
        </p:txBody>
      </p:sp>
      <p:sp>
        <p:nvSpPr>
          <p:cNvPr id="7" name="Text 5"/>
          <p:cNvSpPr/>
          <p:nvPr/>
        </p:nvSpPr>
        <p:spPr>
          <a:xfrm>
            <a:off x="496119" y="2075631"/>
            <a:ext cx="2646983" cy="527521"/>
          </a:xfrm>
          <a:prstGeom prst="rect">
            <a:avLst/>
          </a:prstGeom>
          <a:noFill/>
          <a:ln/>
        </p:spPr>
        <p:txBody>
          <a:bodyPr wrap="square" lIns="0" tIns="0" rIns="0" bIns="0" rtlCol="0" anchor="t">
            <a:normAutofit/>
          </a:bodyPr>
          <a:lstStyle/>
          <a:p>
            <a:pPr algn="l" indent="0" marL="0">
              <a:lnSpc>
                <a:spcPct val="128000"/>
              </a:lnSpc>
              <a:buNone/>
            </a:pPr>
            <a:r>
              <a:rPr lang="en-US" sz="900" dirty="0">
                <a:solidFill>
                  <a:srgbClr val="4C4C4D"/>
                </a:solidFill>
                <a:latin typeface="Heebo" pitchFamily="34" charset="0"/>
                <a:ea typeface="Heebo" pitchFamily="34" charset="-122"/>
                <a:cs typeface="Heebo" pitchFamily="34" charset="-120"/>
              </a:rPr>
              <a:t>Wo stehen wir heute? Netzweite Pünktlichkeitskennzahlen und die systematische Analysebasis über alle 16 Tramlinien.</a:t>
            </a:r>
            <a:endParaRPr lang="en-US" sz="900" dirty="0"/>
          </a:p>
        </p:txBody>
      </p:sp>
      <p:sp>
        <p:nvSpPr>
          <p:cNvPr id="8" name="Text 6"/>
          <p:cNvSpPr/>
          <p:nvPr/>
        </p:nvSpPr>
        <p:spPr>
          <a:xfrm>
            <a:off x="3248471" y="1567979"/>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4C4C4D"/>
                </a:solidFill>
                <a:latin typeface="Crimson Pro Light" pitchFamily="34" charset="0"/>
                <a:ea typeface="Crimson Pro Light" pitchFamily="34" charset="-122"/>
                <a:cs typeface="Crimson Pro Light" pitchFamily="34" charset="-120"/>
              </a:rPr>
              <a:t>02</a:t>
            </a:r>
            <a:endParaRPr lang="en-US" sz="900" dirty="0"/>
          </a:p>
        </p:txBody>
      </p:sp>
      <p:sp>
        <p:nvSpPr>
          <p:cNvPr id="9" name="Shape 7"/>
          <p:cNvSpPr/>
          <p:nvPr/>
        </p:nvSpPr>
        <p:spPr>
          <a:xfrm>
            <a:off x="3248471" y="1747986"/>
            <a:ext cx="2646983" cy="14288"/>
          </a:xfrm>
          <a:prstGeom prst="rect">
            <a:avLst/>
          </a:prstGeom>
          <a:solidFill>
            <a:srgbClr val="2150FE"/>
          </a:solidFill>
          <a:ln/>
        </p:spPr>
      </p:sp>
      <p:sp>
        <p:nvSpPr>
          <p:cNvPr id="10" name="Text 8"/>
          <p:cNvSpPr/>
          <p:nvPr/>
        </p:nvSpPr>
        <p:spPr>
          <a:xfrm>
            <a:off x="3248471" y="1833711"/>
            <a:ext cx="1429420" cy="178668"/>
          </a:xfrm>
          <a:prstGeom prst="rect">
            <a:avLst/>
          </a:prstGeom>
          <a:noFill/>
          <a:ln/>
        </p:spPr>
        <p:txBody>
          <a:bodyPr wrap="none" lIns="0" tIns="0" rIns="0" bIns="0" rtlCol="0" anchor="t"/>
          <a:lstStyle/>
          <a:p>
            <a:pPr algn="l" indent="0" marL="0">
              <a:lnSpc>
                <a:spcPct val="104000"/>
              </a:lnSpc>
              <a:buNone/>
            </a:pPr>
            <a:r>
              <a:rPr lang="en-US" sz="1100" dirty="0">
                <a:solidFill>
                  <a:srgbClr val="4C4C4D"/>
                </a:solidFill>
                <a:latin typeface="Crimson Pro SemiBold" pitchFamily="34" charset="0"/>
                <a:ea typeface="Crimson Pro SemiBold" pitchFamily="34" charset="-122"/>
                <a:cs typeface="Crimson Pro SemiBold" pitchFamily="34" charset="-120"/>
              </a:rPr>
              <a:t>Die Überraschungen</a:t>
            </a:r>
            <a:endParaRPr lang="en-US" sz="1100" dirty="0"/>
          </a:p>
        </p:txBody>
      </p:sp>
      <p:sp>
        <p:nvSpPr>
          <p:cNvPr id="11" name="Text 9"/>
          <p:cNvSpPr/>
          <p:nvPr/>
        </p:nvSpPr>
        <p:spPr>
          <a:xfrm>
            <a:off x="3248471" y="2075631"/>
            <a:ext cx="2646983" cy="527521"/>
          </a:xfrm>
          <a:prstGeom prst="rect">
            <a:avLst/>
          </a:prstGeom>
          <a:noFill/>
          <a:ln/>
        </p:spPr>
        <p:txBody>
          <a:bodyPr wrap="square" lIns="0" tIns="0" rIns="0" bIns="0" rtlCol="0" anchor="t">
            <a:normAutofit/>
          </a:bodyPr>
          <a:lstStyle/>
          <a:p>
            <a:pPr algn="l" indent="0" marL="0">
              <a:lnSpc>
                <a:spcPct val="128000"/>
              </a:lnSpc>
              <a:buNone/>
            </a:pPr>
            <a:r>
              <a:rPr lang="en-US" sz="900" dirty="0">
                <a:solidFill>
                  <a:srgbClr val="4C4C4D"/>
                </a:solidFill>
                <a:latin typeface="Heebo" pitchFamily="34" charset="0"/>
                <a:ea typeface="Heebo" pitchFamily="34" charset="-122"/>
                <a:cs typeface="Heebo" pitchFamily="34" charset="-120"/>
              </a:rPr>
              <a:t>Was die Daten wirklich zeigen – und warum gängige Annahmen über Hotspots, Peak-Zeiten und Wetter nicht halten.</a:t>
            </a:r>
            <a:endParaRPr lang="en-US" sz="900" dirty="0"/>
          </a:p>
        </p:txBody>
      </p:sp>
      <p:sp>
        <p:nvSpPr>
          <p:cNvPr id="12" name="Text 10"/>
          <p:cNvSpPr/>
          <p:nvPr/>
        </p:nvSpPr>
        <p:spPr>
          <a:xfrm>
            <a:off x="6000824" y="1567979"/>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4C4C4D"/>
                </a:solidFill>
                <a:latin typeface="Crimson Pro Light" pitchFamily="34" charset="0"/>
                <a:ea typeface="Crimson Pro Light" pitchFamily="34" charset="-122"/>
                <a:cs typeface="Crimson Pro Light" pitchFamily="34" charset="-120"/>
              </a:rPr>
              <a:t>03</a:t>
            </a:r>
            <a:endParaRPr lang="en-US" sz="900" dirty="0"/>
          </a:p>
        </p:txBody>
      </p:sp>
      <p:sp>
        <p:nvSpPr>
          <p:cNvPr id="13" name="Shape 11"/>
          <p:cNvSpPr/>
          <p:nvPr/>
        </p:nvSpPr>
        <p:spPr>
          <a:xfrm>
            <a:off x="6000824" y="1747986"/>
            <a:ext cx="2647057" cy="14288"/>
          </a:xfrm>
          <a:prstGeom prst="rect">
            <a:avLst/>
          </a:prstGeom>
          <a:solidFill>
            <a:srgbClr val="2150FE"/>
          </a:solidFill>
          <a:ln/>
        </p:spPr>
      </p:sp>
      <p:sp>
        <p:nvSpPr>
          <p:cNvPr id="14" name="Text 12"/>
          <p:cNvSpPr/>
          <p:nvPr/>
        </p:nvSpPr>
        <p:spPr>
          <a:xfrm>
            <a:off x="6000824" y="1833711"/>
            <a:ext cx="1429420" cy="178668"/>
          </a:xfrm>
          <a:prstGeom prst="rect">
            <a:avLst/>
          </a:prstGeom>
          <a:noFill/>
          <a:ln/>
        </p:spPr>
        <p:txBody>
          <a:bodyPr wrap="none" lIns="0" tIns="0" rIns="0" bIns="0" rtlCol="0" anchor="t"/>
          <a:lstStyle/>
          <a:p>
            <a:pPr algn="l" indent="0" marL="0">
              <a:lnSpc>
                <a:spcPct val="104000"/>
              </a:lnSpc>
              <a:buNone/>
            </a:pPr>
            <a:r>
              <a:rPr lang="en-US" sz="1100" dirty="0">
                <a:solidFill>
                  <a:srgbClr val="4C4C4D"/>
                </a:solidFill>
                <a:latin typeface="Crimson Pro SemiBold" pitchFamily="34" charset="0"/>
                <a:ea typeface="Crimson Pro SemiBold" pitchFamily="34" charset="-122"/>
                <a:cs typeface="Crimson Pro SemiBold" pitchFamily="34" charset="-120"/>
              </a:rPr>
              <a:t>Die Erkenntnis</a:t>
            </a:r>
            <a:endParaRPr lang="en-US" sz="1100" dirty="0"/>
          </a:p>
        </p:txBody>
      </p:sp>
      <p:sp>
        <p:nvSpPr>
          <p:cNvPr id="15" name="Text 13"/>
          <p:cNvSpPr/>
          <p:nvPr/>
        </p:nvSpPr>
        <p:spPr>
          <a:xfrm>
            <a:off x="6000824" y="2075631"/>
            <a:ext cx="2647057" cy="527521"/>
          </a:xfrm>
          <a:prstGeom prst="rect">
            <a:avLst/>
          </a:prstGeom>
          <a:noFill/>
          <a:ln/>
        </p:spPr>
        <p:txBody>
          <a:bodyPr wrap="square" lIns="0" tIns="0" rIns="0" bIns="0" rtlCol="0" anchor="t">
            <a:normAutofit/>
          </a:bodyPr>
          <a:lstStyle/>
          <a:p>
            <a:pPr algn="l" indent="0" marL="0">
              <a:lnSpc>
                <a:spcPct val="128000"/>
              </a:lnSpc>
              <a:buNone/>
            </a:pPr>
            <a:r>
              <a:rPr lang="en-US" sz="900" dirty="0">
                <a:solidFill>
                  <a:srgbClr val="4C4C4D"/>
                </a:solidFill>
                <a:latin typeface="Heebo" pitchFamily="34" charset="0"/>
                <a:ea typeface="Heebo" pitchFamily="34" charset="-122"/>
                <a:cs typeface="Heebo" pitchFamily="34" charset="-120"/>
              </a:rPr>
              <a:t>Die strukturelle Ursache hinter den Verspätungen: Fahrplan-Design ohne Puffer und der Kaskadeneffekt.</a:t>
            </a:r>
            <a:endParaRPr lang="en-US" sz="900" dirty="0"/>
          </a:p>
        </p:txBody>
      </p:sp>
      <p:sp>
        <p:nvSpPr>
          <p:cNvPr id="16" name="Text 14"/>
          <p:cNvSpPr/>
          <p:nvPr/>
        </p:nvSpPr>
        <p:spPr>
          <a:xfrm>
            <a:off x="496119" y="2794248"/>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4C4C4D"/>
                </a:solidFill>
                <a:latin typeface="Crimson Pro Light" pitchFamily="34" charset="0"/>
                <a:ea typeface="Crimson Pro Light" pitchFamily="34" charset="-122"/>
                <a:cs typeface="Crimson Pro Light" pitchFamily="34" charset="-120"/>
              </a:rPr>
              <a:t>04</a:t>
            </a:r>
            <a:endParaRPr lang="en-US" sz="900" dirty="0"/>
          </a:p>
        </p:txBody>
      </p:sp>
      <p:sp>
        <p:nvSpPr>
          <p:cNvPr id="17" name="Shape 15"/>
          <p:cNvSpPr/>
          <p:nvPr/>
        </p:nvSpPr>
        <p:spPr>
          <a:xfrm>
            <a:off x="496119" y="2974256"/>
            <a:ext cx="2646983" cy="14288"/>
          </a:xfrm>
          <a:prstGeom prst="rect">
            <a:avLst/>
          </a:prstGeom>
          <a:solidFill>
            <a:srgbClr val="2150FE"/>
          </a:solidFill>
          <a:ln/>
        </p:spPr>
      </p:sp>
      <p:sp>
        <p:nvSpPr>
          <p:cNvPr id="18" name="Text 16"/>
          <p:cNvSpPr/>
          <p:nvPr/>
        </p:nvSpPr>
        <p:spPr>
          <a:xfrm>
            <a:off x="496119" y="3059981"/>
            <a:ext cx="1429420" cy="178668"/>
          </a:xfrm>
          <a:prstGeom prst="rect">
            <a:avLst/>
          </a:prstGeom>
          <a:noFill/>
          <a:ln/>
        </p:spPr>
        <p:txBody>
          <a:bodyPr wrap="none" lIns="0" tIns="0" rIns="0" bIns="0" rtlCol="0" anchor="t"/>
          <a:lstStyle/>
          <a:p>
            <a:pPr algn="l" indent="0" marL="0">
              <a:lnSpc>
                <a:spcPct val="104000"/>
              </a:lnSpc>
              <a:buNone/>
            </a:pPr>
            <a:r>
              <a:rPr lang="en-US" sz="1100" dirty="0">
                <a:solidFill>
                  <a:srgbClr val="4C4C4D"/>
                </a:solidFill>
                <a:latin typeface="Crimson Pro SemiBold" pitchFamily="34" charset="0"/>
                <a:ea typeface="Crimson Pro SemiBold" pitchFamily="34" charset="-122"/>
                <a:cs typeface="Crimson Pro SemiBold" pitchFamily="34" charset="-120"/>
              </a:rPr>
              <a:t>Das Modell</a:t>
            </a:r>
            <a:endParaRPr lang="en-US" sz="1100" dirty="0"/>
          </a:p>
        </p:txBody>
      </p:sp>
      <p:sp>
        <p:nvSpPr>
          <p:cNvPr id="19" name="Text 17"/>
          <p:cNvSpPr/>
          <p:nvPr/>
        </p:nvSpPr>
        <p:spPr>
          <a:xfrm>
            <a:off x="496119" y="3301901"/>
            <a:ext cx="2646983" cy="527521"/>
          </a:xfrm>
          <a:prstGeom prst="rect">
            <a:avLst/>
          </a:prstGeom>
          <a:noFill/>
          <a:ln/>
        </p:spPr>
        <p:txBody>
          <a:bodyPr wrap="square" lIns="0" tIns="0" rIns="0" bIns="0" rtlCol="0" anchor="t">
            <a:normAutofit/>
          </a:bodyPr>
          <a:lstStyle/>
          <a:p>
            <a:pPr algn="l" indent="0" marL="0">
              <a:lnSpc>
                <a:spcPct val="128000"/>
              </a:lnSpc>
              <a:buNone/>
            </a:pPr>
            <a:r>
              <a:rPr lang="en-US" sz="900" dirty="0">
                <a:solidFill>
                  <a:srgbClr val="4C4C4D"/>
                </a:solidFill>
                <a:latin typeface="Heebo" pitchFamily="34" charset="0"/>
                <a:ea typeface="Heebo" pitchFamily="34" charset="-122"/>
                <a:cs typeface="Heebo" pitchFamily="34" charset="-120"/>
              </a:rPr>
              <a:t>LightGBM v2 als prädiktives Frühwarnsystem – 63% besser als die Baseline mit einem MAE von 18.6 Sekunden.</a:t>
            </a:r>
            <a:endParaRPr lang="en-US" sz="900" dirty="0"/>
          </a:p>
        </p:txBody>
      </p:sp>
      <p:sp>
        <p:nvSpPr>
          <p:cNvPr id="20" name="Text 18"/>
          <p:cNvSpPr/>
          <p:nvPr/>
        </p:nvSpPr>
        <p:spPr>
          <a:xfrm>
            <a:off x="3248471" y="2794248"/>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4C4C4D"/>
                </a:solidFill>
                <a:latin typeface="Crimson Pro Light" pitchFamily="34" charset="0"/>
                <a:ea typeface="Crimson Pro Light" pitchFamily="34" charset="-122"/>
                <a:cs typeface="Crimson Pro Light" pitchFamily="34" charset="-120"/>
              </a:rPr>
              <a:t>05</a:t>
            </a:r>
            <a:endParaRPr lang="en-US" sz="900" dirty="0"/>
          </a:p>
        </p:txBody>
      </p:sp>
      <p:sp>
        <p:nvSpPr>
          <p:cNvPr id="21" name="Shape 19"/>
          <p:cNvSpPr/>
          <p:nvPr/>
        </p:nvSpPr>
        <p:spPr>
          <a:xfrm>
            <a:off x="3248471" y="2974256"/>
            <a:ext cx="2646983" cy="14288"/>
          </a:xfrm>
          <a:prstGeom prst="rect">
            <a:avLst/>
          </a:prstGeom>
          <a:solidFill>
            <a:srgbClr val="2150FE"/>
          </a:solidFill>
          <a:ln/>
        </p:spPr>
      </p:sp>
      <p:sp>
        <p:nvSpPr>
          <p:cNvPr id="22" name="Text 20"/>
          <p:cNvSpPr/>
          <p:nvPr/>
        </p:nvSpPr>
        <p:spPr>
          <a:xfrm>
            <a:off x="3248471" y="3059981"/>
            <a:ext cx="1741884" cy="178668"/>
          </a:xfrm>
          <a:prstGeom prst="rect">
            <a:avLst/>
          </a:prstGeom>
          <a:noFill/>
          <a:ln/>
        </p:spPr>
        <p:txBody>
          <a:bodyPr wrap="none" lIns="0" tIns="0" rIns="0" bIns="0" rtlCol="0" anchor="t"/>
          <a:lstStyle/>
          <a:p>
            <a:pPr algn="l" indent="0" marL="0">
              <a:lnSpc>
                <a:spcPct val="104000"/>
              </a:lnSpc>
              <a:buNone/>
            </a:pPr>
            <a:r>
              <a:rPr lang="en-US" sz="1100" dirty="0">
                <a:solidFill>
                  <a:srgbClr val="4C4C4D"/>
                </a:solidFill>
                <a:latin typeface="Crimson Pro SemiBold" pitchFamily="34" charset="0"/>
                <a:ea typeface="Crimson Pro SemiBold" pitchFamily="34" charset="-122"/>
                <a:cs typeface="Crimson Pro SemiBold" pitchFamily="34" charset="-120"/>
              </a:rPr>
              <a:t>Die Handlungsempfehlungen</a:t>
            </a:r>
            <a:endParaRPr lang="en-US" sz="1100" dirty="0"/>
          </a:p>
        </p:txBody>
      </p:sp>
      <p:sp>
        <p:nvSpPr>
          <p:cNvPr id="23" name="Text 21"/>
          <p:cNvSpPr/>
          <p:nvPr/>
        </p:nvSpPr>
        <p:spPr>
          <a:xfrm>
            <a:off x="3248471" y="3301901"/>
            <a:ext cx="2646983" cy="527521"/>
          </a:xfrm>
          <a:prstGeom prst="rect">
            <a:avLst/>
          </a:prstGeom>
          <a:noFill/>
          <a:ln/>
        </p:spPr>
        <p:txBody>
          <a:bodyPr wrap="square" lIns="0" tIns="0" rIns="0" bIns="0" rtlCol="0" anchor="t">
            <a:normAutofit/>
          </a:bodyPr>
          <a:lstStyle/>
          <a:p>
            <a:pPr algn="l" indent="0" marL="0">
              <a:lnSpc>
                <a:spcPct val="128000"/>
              </a:lnSpc>
              <a:buNone/>
            </a:pPr>
            <a:r>
              <a:rPr lang="en-US" sz="900" dirty="0">
                <a:solidFill>
                  <a:srgbClr val="4C4C4D"/>
                </a:solidFill>
                <a:latin typeface="Heebo" pitchFamily="34" charset="0"/>
                <a:ea typeface="Heebo" pitchFamily="34" charset="-122"/>
                <a:cs typeface="Heebo" pitchFamily="34" charset="-120"/>
              </a:rPr>
              <a:t>Vier konkrete, priorisierte Massnahmen für Fahrplan-Design, Betriebssteuerung, Kapazität und Monitoring.</a:t>
            </a:r>
            <a:endParaRPr lang="en-US" sz="900" dirty="0"/>
          </a:p>
        </p:txBody>
      </p:sp>
      <p:sp>
        <p:nvSpPr>
          <p:cNvPr id="24" name="Text 22"/>
          <p:cNvSpPr/>
          <p:nvPr/>
        </p:nvSpPr>
        <p:spPr>
          <a:xfrm>
            <a:off x="6000824" y="2794248"/>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4C4C4D"/>
                </a:solidFill>
                <a:latin typeface="Crimson Pro Light" pitchFamily="34" charset="0"/>
                <a:ea typeface="Crimson Pro Light" pitchFamily="34" charset="-122"/>
                <a:cs typeface="Crimson Pro Light" pitchFamily="34" charset="-120"/>
              </a:rPr>
              <a:t>06</a:t>
            </a:r>
            <a:endParaRPr lang="en-US" sz="900" dirty="0"/>
          </a:p>
        </p:txBody>
      </p:sp>
      <p:sp>
        <p:nvSpPr>
          <p:cNvPr id="25" name="Shape 23"/>
          <p:cNvSpPr/>
          <p:nvPr/>
        </p:nvSpPr>
        <p:spPr>
          <a:xfrm>
            <a:off x="6000824" y="2974256"/>
            <a:ext cx="2647057" cy="14288"/>
          </a:xfrm>
          <a:prstGeom prst="rect">
            <a:avLst/>
          </a:prstGeom>
          <a:solidFill>
            <a:srgbClr val="2150FE"/>
          </a:solidFill>
          <a:ln/>
        </p:spPr>
      </p:sp>
      <p:sp>
        <p:nvSpPr>
          <p:cNvPr id="26" name="Text 24"/>
          <p:cNvSpPr/>
          <p:nvPr/>
        </p:nvSpPr>
        <p:spPr>
          <a:xfrm>
            <a:off x="6000824" y="3059981"/>
            <a:ext cx="1429420" cy="178668"/>
          </a:xfrm>
          <a:prstGeom prst="rect">
            <a:avLst/>
          </a:prstGeom>
          <a:noFill/>
          <a:ln/>
        </p:spPr>
        <p:txBody>
          <a:bodyPr wrap="none" lIns="0" tIns="0" rIns="0" bIns="0" rtlCol="0" anchor="t"/>
          <a:lstStyle/>
          <a:p>
            <a:pPr algn="l" indent="0" marL="0">
              <a:lnSpc>
                <a:spcPct val="104000"/>
              </a:lnSpc>
              <a:buNone/>
            </a:pPr>
            <a:r>
              <a:rPr lang="en-US" sz="1100" dirty="0">
                <a:solidFill>
                  <a:srgbClr val="4C4C4D"/>
                </a:solidFill>
                <a:latin typeface="Crimson Pro SemiBold" pitchFamily="34" charset="0"/>
                <a:ea typeface="Crimson Pro SemiBold" pitchFamily="34" charset="-122"/>
                <a:cs typeface="Crimson Pro SemiBold" pitchFamily="34" charset="-120"/>
              </a:rPr>
              <a:t>Das Resultat</a:t>
            </a:r>
            <a:endParaRPr lang="en-US" sz="1100" dirty="0"/>
          </a:p>
        </p:txBody>
      </p:sp>
      <p:sp>
        <p:nvSpPr>
          <p:cNvPr id="27" name="Text 25"/>
          <p:cNvSpPr/>
          <p:nvPr/>
        </p:nvSpPr>
        <p:spPr>
          <a:xfrm>
            <a:off x="6000824" y="3301901"/>
            <a:ext cx="2647057" cy="351681"/>
          </a:xfrm>
          <a:prstGeom prst="rect">
            <a:avLst/>
          </a:prstGeom>
          <a:noFill/>
          <a:ln/>
        </p:spPr>
        <p:txBody>
          <a:bodyPr wrap="square" lIns="0" tIns="0" rIns="0" bIns="0" rtlCol="0" anchor="t">
            <a:normAutofit/>
          </a:bodyPr>
          <a:lstStyle/>
          <a:p>
            <a:pPr algn="l" indent="0" marL="0">
              <a:lnSpc>
                <a:spcPct val="128000"/>
              </a:lnSpc>
              <a:buNone/>
            </a:pPr>
            <a:r>
              <a:rPr lang="en-US" sz="900" dirty="0">
                <a:solidFill>
                  <a:srgbClr val="4C4C4D"/>
                </a:solidFill>
                <a:latin typeface="Heebo" pitchFamily="34" charset="0"/>
                <a:ea typeface="Heebo" pitchFamily="34" charset="-122"/>
                <a:cs typeface="Heebo" pitchFamily="34" charset="-120"/>
              </a:rPr>
              <a:t>Die Kernbotschaft und der Weg von 87% heutiger Pünktlichkeit zum VBZ-Ziel von 95% bis 2028.</a:t>
            </a:r>
            <a:endParaRPr lang="en-US" sz="900" dirty="0"/>
          </a:p>
        </p:txBody>
      </p:sp>
      <p:sp>
        <p:nvSpPr>
          <p:cNvPr id="28" name="Text 26"/>
          <p:cNvSpPr/>
          <p:nvPr/>
        </p:nvSpPr>
        <p:spPr>
          <a:xfrm>
            <a:off x="496119" y="4020517"/>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4C4C4D"/>
                </a:solidFill>
                <a:latin typeface="Crimson Pro Light" pitchFamily="34" charset="0"/>
                <a:ea typeface="Crimson Pro Light" pitchFamily="34" charset="-122"/>
                <a:cs typeface="Crimson Pro Light" pitchFamily="34" charset="-120"/>
              </a:rPr>
              <a:t>07</a:t>
            </a:r>
            <a:endParaRPr lang="en-US" sz="900" dirty="0"/>
          </a:p>
        </p:txBody>
      </p:sp>
      <p:sp>
        <p:nvSpPr>
          <p:cNvPr id="29" name="Shape 27"/>
          <p:cNvSpPr/>
          <p:nvPr/>
        </p:nvSpPr>
        <p:spPr>
          <a:xfrm>
            <a:off x="496119" y="4200525"/>
            <a:ext cx="8151763" cy="14288"/>
          </a:xfrm>
          <a:prstGeom prst="rect">
            <a:avLst/>
          </a:prstGeom>
          <a:solidFill>
            <a:srgbClr val="2150FE"/>
          </a:solidFill>
          <a:ln/>
        </p:spPr>
      </p:sp>
      <p:sp>
        <p:nvSpPr>
          <p:cNvPr id="30" name="Text 28"/>
          <p:cNvSpPr/>
          <p:nvPr/>
        </p:nvSpPr>
        <p:spPr>
          <a:xfrm>
            <a:off x="496119" y="4286250"/>
            <a:ext cx="1429420" cy="178668"/>
          </a:xfrm>
          <a:prstGeom prst="rect">
            <a:avLst/>
          </a:prstGeom>
          <a:noFill/>
          <a:ln/>
        </p:spPr>
        <p:txBody>
          <a:bodyPr wrap="none" lIns="0" tIns="0" rIns="0" bIns="0" rtlCol="0" anchor="t"/>
          <a:lstStyle/>
          <a:p>
            <a:pPr algn="l" indent="0" marL="0">
              <a:lnSpc>
                <a:spcPct val="104000"/>
              </a:lnSpc>
              <a:buNone/>
            </a:pPr>
            <a:r>
              <a:rPr lang="en-US" sz="1100" dirty="0">
                <a:solidFill>
                  <a:srgbClr val="4C4C4D"/>
                </a:solidFill>
                <a:latin typeface="Crimson Pro SemiBold" pitchFamily="34" charset="0"/>
                <a:ea typeface="Crimson Pro SemiBold" pitchFamily="34" charset="-122"/>
                <a:cs typeface="Crimson Pro SemiBold" pitchFamily="34" charset="-120"/>
              </a:rPr>
              <a:t>Der Projektrahmen</a:t>
            </a:r>
            <a:endParaRPr lang="en-US" sz="1100" dirty="0"/>
          </a:p>
        </p:txBody>
      </p:sp>
      <p:sp>
        <p:nvSpPr>
          <p:cNvPr id="31" name="Text 29"/>
          <p:cNvSpPr/>
          <p:nvPr/>
        </p:nvSpPr>
        <p:spPr>
          <a:xfrm>
            <a:off x="496119" y="4528170"/>
            <a:ext cx="8151763" cy="175840"/>
          </a:xfrm>
          <a:prstGeom prst="rect">
            <a:avLst/>
          </a:prstGeom>
          <a:noFill/>
          <a:ln/>
        </p:spPr>
        <p:txBody>
          <a:bodyPr wrap="none" lIns="0" tIns="0" rIns="0" bIns="0" rtlCol="0" anchor="t"/>
          <a:lstStyle/>
          <a:p>
            <a:pPr algn="l" indent="0" marL="0">
              <a:lnSpc>
                <a:spcPct val="128000"/>
              </a:lnSpc>
              <a:buNone/>
            </a:pPr>
            <a:r>
              <a:rPr lang="en-US" sz="900" dirty="0">
                <a:solidFill>
                  <a:srgbClr val="4C4C4D"/>
                </a:solidFill>
                <a:latin typeface="Heebo" pitchFamily="34" charset="0"/>
                <a:ea typeface="Heebo" pitchFamily="34" charset="-122"/>
                <a:cs typeface="Heebo" pitchFamily="34" charset="-120"/>
              </a:rPr>
              <a:t>Datenbasis, Technologie-Stack und vollständige Reproduzierbarkeit auf GitHub.</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561677"/>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52D47"/>
                </a:solidFill>
                <a:latin typeface="Crimson Pro SemiBold" pitchFamily="34" charset="0"/>
                <a:ea typeface="Crimson Pro SemiBold" pitchFamily="34" charset="-122"/>
                <a:cs typeface="Crimson Pro SemiBold" pitchFamily="34" charset="-120"/>
              </a:rPr>
              <a:t>1. Ausgangssituation</a:t>
            </a:r>
            <a:endParaRPr lang="en-US" sz="2400" dirty="0"/>
          </a:p>
        </p:txBody>
      </p:sp>
      <p:sp>
        <p:nvSpPr>
          <p:cNvPr id="3" name="Text 1"/>
          <p:cNvSpPr/>
          <p:nvPr/>
        </p:nvSpPr>
        <p:spPr>
          <a:xfrm>
            <a:off x="496119" y="1197248"/>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D"/>
                </a:solidFill>
                <a:latin typeface="Heebo" pitchFamily="34" charset="0"/>
                <a:ea typeface="Heebo" pitchFamily="34" charset="-122"/>
                <a:cs typeface="Heebo" pitchFamily="34" charset="-120"/>
              </a:rPr>
              <a:t>Das Zürcher Tramnetz ist eines der dichtesten und am stärksten genutzten öffentlichen Verkehrssysteme der Schweiz. Dennoch zeigt die systematische Analyse der Jahre 2023 bis 2025 ein klares Bild: Die Pünktlichkeit liegt deutlich unter dem selbstgesteckten Ziel der VBZ. Die folgenden Kennzahlen bilden die empirische Basis dieser Untersuchung.</a:t>
            </a:r>
            <a:endParaRPr lang="en-US" sz="950" dirty="0"/>
          </a:p>
        </p:txBody>
      </p:sp>
      <p:sp>
        <p:nvSpPr>
          <p:cNvPr id="4" name="Text 2"/>
          <p:cNvSpPr/>
          <p:nvPr/>
        </p:nvSpPr>
        <p:spPr>
          <a:xfrm>
            <a:off x="496119" y="1994148"/>
            <a:ext cx="2613868" cy="409352"/>
          </a:xfrm>
          <a:prstGeom prst="rect">
            <a:avLst/>
          </a:prstGeom>
          <a:noFill/>
          <a:ln/>
        </p:spPr>
        <p:txBody>
          <a:bodyPr wrap="none" lIns="0" tIns="0" rIns="0" bIns="0" rtlCol="0" anchor="t"/>
          <a:lstStyle/>
          <a:p>
            <a:pPr algn="ctr" indent="0" marL="0">
              <a:lnSpc>
                <a:spcPct val="83000"/>
              </a:lnSpc>
              <a:buNone/>
            </a:pPr>
            <a:r>
              <a:rPr lang="en-US" sz="3200" dirty="0">
                <a:solidFill>
                  <a:srgbClr val="4C4C4D"/>
                </a:solidFill>
                <a:latin typeface="Crimson Pro SemiBold" pitchFamily="34" charset="0"/>
                <a:ea typeface="Crimson Pro SemiBold" pitchFamily="34" charset="-122"/>
                <a:cs typeface="Crimson Pro SemiBold" pitchFamily="34" charset="-120"/>
              </a:rPr>
              <a:t>87.0%</a:t>
            </a:r>
            <a:endParaRPr lang="en-US" sz="3200" dirty="0"/>
          </a:p>
        </p:txBody>
      </p:sp>
      <p:sp>
        <p:nvSpPr>
          <p:cNvPr id="5" name="Text 3"/>
          <p:cNvSpPr/>
          <p:nvPr/>
        </p:nvSpPr>
        <p:spPr>
          <a:xfrm>
            <a:off x="1027733" y="2558504"/>
            <a:ext cx="1550566" cy="193849"/>
          </a:xfrm>
          <a:prstGeom prst="rect">
            <a:avLst/>
          </a:prstGeom>
          <a:noFill/>
          <a:ln/>
        </p:spPr>
        <p:txBody>
          <a:bodyPr wrap="none" lIns="0" tIns="0" rIns="0" bIns="0" rtlCol="0" anchor="t"/>
          <a:lstStyle/>
          <a:p>
            <a:pPr algn="ctr"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Netzweite OTP</a:t>
            </a:r>
            <a:endParaRPr lang="en-US" sz="1200" dirty="0"/>
          </a:p>
        </p:txBody>
      </p:sp>
      <p:sp>
        <p:nvSpPr>
          <p:cNvPr id="6" name="Text 4"/>
          <p:cNvSpPr/>
          <p:nvPr/>
        </p:nvSpPr>
        <p:spPr>
          <a:xfrm>
            <a:off x="496119" y="2826767"/>
            <a:ext cx="2613868" cy="793849"/>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4C4C4D"/>
                </a:solidFill>
                <a:latin typeface="Heebo" pitchFamily="34" charset="0"/>
                <a:ea typeface="Heebo" pitchFamily="34" charset="-122"/>
                <a:cs typeface="Heebo" pitchFamily="34" charset="-120"/>
              </a:rPr>
              <a:t>On-Time Performance über alle 16 Tramlinien im Analysezeitraum 2023–2025. Das VBZ-Ziel liegt bei 95% – eine Lücke von 8 Prozentpunkten.</a:t>
            </a:r>
            <a:endParaRPr lang="en-US" sz="950" dirty="0"/>
          </a:p>
        </p:txBody>
      </p:sp>
      <p:sp>
        <p:nvSpPr>
          <p:cNvPr id="7" name="Text 5"/>
          <p:cNvSpPr/>
          <p:nvPr/>
        </p:nvSpPr>
        <p:spPr>
          <a:xfrm>
            <a:off x="3264991" y="1994148"/>
            <a:ext cx="2613943" cy="409352"/>
          </a:xfrm>
          <a:prstGeom prst="rect">
            <a:avLst/>
          </a:prstGeom>
          <a:noFill/>
          <a:ln/>
        </p:spPr>
        <p:txBody>
          <a:bodyPr wrap="none" lIns="0" tIns="0" rIns="0" bIns="0" rtlCol="0" anchor="t"/>
          <a:lstStyle/>
          <a:p>
            <a:pPr algn="ctr" indent="0" marL="0">
              <a:lnSpc>
                <a:spcPct val="83000"/>
              </a:lnSpc>
              <a:buNone/>
            </a:pPr>
            <a:r>
              <a:rPr lang="en-US" sz="3200" dirty="0">
                <a:solidFill>
                  <a:srgbClr val="4C4C4D"/>
                </a:solidFill>
                <a:latin typeface="Crimson Pro SemiBold" pitchFamily="34" charset="0"/>
                <a:ea typeface="Crimson Pro SemiBold" pitchFamily="34" charset="-122"/>
                <a:cs typeface="Crimson Pro SemiBold" pitchFamily="34" charset="-120"/>
              </a:rPr>
              <a:t>56.3s</a:t>
            </a:r>
            <a:endParaRPr lang="en-US" sz="3200" dirty="0"/>
          </a:p>
        </p:txBody>
      </p:sp>
      <p:sp>
        <p:nvSpPr>
          <p:cNvPr id="8" name="Text 6"/>
          <p:cNvSpPr/>
          <p:nvPr/>
        </p:nvSpPr>
        <p:spPr>
          <a:xfrm>
            <a:off x="3796680" y="2558504"/>
            <a:ext cx="1550566" cy="193849"/>
          </a:xfrm>
          <a:prstGeom prst="rect">
            <a:avLst/>
          </a:prstGeom>
          <a:noFill/>
          <a:ln/>
        </p:spPr>
        <p:txBody>
          <a:bodyPr wrap="none" lIns="0" tIns="0" rIns="0" bIns="0" rtlCol="0" anchor="t"/>
          <a:lstStyle/>
          <a:p>
            <a:pPr algn="ctr"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Ø Ankunftsverspätung</a:t>
            </a:r>
            <a:endParaRPr lang="en-US" sz="1200" dirty="0"/>
          </a:p>
        </p:txBody>
      </p:sp>
      <p:sp>
        <p:nvSpPr>
          <p:cNvPr id="9" name="Text 7"/>
          <p:cNvSpPr/>
          <p:nvPr/>
        </p:nvSpPr>
        <p:spPr>
          <a:xfrm>
            <a:off x="3264991" y="2826767"/>
            <a:ext cx="2613943" cy="793849"/>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4C4C4D"/>
                </a:solidFill>
                <a:latin typeface="Heebo" pitchFamily="34" charset="0"/>
                <a:ea typeface="Heebo" pitchFamily="34" charset="-122"/>
                <a:cs typeface="Heebo" pitchFamily="34" charset="-120"/>
              </a:rPr>
              <a:t>Durchschnittliche Verspätung pro Haltestellenankunft, gemittelt über alle Linien und Zeitfenster. Dieser Wert ist systematisch und nicht zufällig verteilt.</a:t>
            </a:r>
            <a:endParaRPr lang="en-US" sz="950" dirty="0"/>
          </a:p>
        </p:txBody>
      </p:sp>
      <p:sp>
        <p:nvSpPr>
          <p:cNvPr id="10" name="Text 8"/>
          <p:cNvSpPr/>
          <p:nvPr/>
        </p:nvSpPr>
        <p:spPr>
          <a:xfrm>
            <a:off x="6033939" y="1994148"/>
            <a:ext cx="2613943" cy="409352"/>
          </a:xfrm>
          <a:prstGeom prst="rect">
            <a:avLst/>
          </a:prstGeom>
          <a:noFill/>
          <a:ln/>
        </p:spPr>
        <p:txBody>
          <a:bodyPr wrap="none" lIns="0" tIns="0" rIns="0" bIns="0" rtlCol="0" anchor="t"/>
          <a:lstStyle/>
          <a:p>
            <a:pPr algn="ctr" indent="0" marL="0">
              <a:lnSpc>
                <a:spcPct val="83000"/>
              </a:lnSpc>
              <a:buNone/>
            </a:pPr>
            <a:r>
              <a:rPr lang="en-US" sz="3200" dirty="0">
                <a:solidFill>
                  <a:srgbClr val="4C4C4D"/>
                </a:solidFill>
                <a:latin typeface="Crimson Pro SemiBold" pitchFamily="34" charset="0"/>
                <a:ea typeface="Crimson Pro SemiBold" pitchFamily="34" charset="-122"/>
                <a:cs typeface="Crimson Pro SemiBold" pitchFamily="34" charset="-120"/>
              </a:rPr>
              <a:t>16</a:t>
            </a:r>
            <a:endParaRPr lang="en-US" sz="3200" dirty="0"/>
          </a:p>
        </p:txBody>
      </p:sp>
      <p:sp>
        <p:nvSpPr>
          <p:cNvPr id="11" name="Text 9"/>
          <p:cNvSpPr/>
          <p:nvPr/>
        </p:nvSpPr>
        <p:spPr>
          <a:xfrm>
            <a:off x="6565627" y="2558504"/>
            <a:ext cx="1550566" cy="193849"/>
          </a:xfrm>
          <a:prstGeom prst="rect">
            <a:avLst/>
          </a:prstGeom>
          <a:noFill/>
          <a:ln/>
        </p:spPr>
        <p:txBody>
          <a:bodyPr wrap="none" lIns="0" tIns="0" rIns="0" bIns="0" rtlCol="0" anchor="t"/>
          <a:lstStyle/>
          <a:p>
            <a:pPr algn="ctr"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Tramlinien analysiert</a:t>
            </a:r>
            <a:endParaRPr lang="en-US" sz="1200" dirty="0"/>
          </a:p>
        </p:txBody>
      </p:sp>
      <p:sp>
        <p:nvSpPr>
          <p:cNvPr id="12" name="Text 10"/>
          <p:cNvSpPr/>
          <p:nvPr/>
        </p:nvSpPr>
        <p:spPr>
          <a:xfrm>
            <a:off x="6033939" y="2826767"/>
            <a:ext cx="2613943" cy="793849"/>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4C4C4D"/>
                </a:solidFill>
                <a:latin typeface="Heebo" pitchFamily="34" charset="0"/>
                <a:ea typeface="Heebo" pitchFamily="34" charset="-122"/>
                <a:cs typeface="Heebo" pitchFamily="34" charset="-120"/>
              </a:rPr>
              <a:t>Vollständige Netzabdeckung: Alle Linien des Zürcher Tramnetzes wurden in die Analyse einbezogen, um ein repräsentatives Gesamtbild zu gewährleisten.</a:t>
            </a:r>
            <a:endParaRPr lang="en-US" sz="950" dirty="0"/>
          </a:p>
        </p:txBody>
      </p:sp>
      <p:sp>
        <p:nvSpPr>
          <p:cNvPr id="13" name="Shape 11"/>
          <p:cNvSpPr/>
          <p:nvPr/>
        </p:nvSpPr>
        <p:spPr>
          <a:xfrm>
            <a:off x="496119" y="3760143"/>
            <a:ext cx="8151763" cy="682079"/>
          </a:xfrm>
          <a:prstGeom prst="roundRect">
            <a:avLst>
              <a:gd name="adj" fmla="val 2728"/>
            </a:avLst>
          </a:prstGeom>
          <a:solidFill>
            <a:srgbClr val="B6D6FC"/>
          </a:solidFill>
          <a:ln/>
        </p:spPr>
      </p:sp>
      <p:pic>
        <p:nvPicPr>
          <p:cNvPr id="14" name="Image 0" descr="preencoded.png">    </p:cNvPr>
          <p:cNvPicPr>
            <a:picLocks noChangeAspect="1"/>
          </p:cNvPicPr>
          <p:nvPr/>
        </p:nvPicPr>
        <p:blipFill>
          <a:blip r:embed="rId1"/>
          <a:stretch>
            <a:fillRect/>
          </a:stretch>
        </p:blipFill>
        <p:spPr>
          <a:xfrm>
            <a:off x="620092" y="3939927"/>
            <a:ext cx="155004" cy="123974"/>
          </a:xfrm>
          <a:prstGeom prst="rect">
            <a:avLst/>
          </a:prstGeom>
        </p:spPr>
      </p:pic>
      <p:sp>
        <p:nvSpPr>
          <p:cNvPr id="15" name="Text 12"/>
          <p:cNvSpPr/>
          <p:nvPr/>
        </p:nvSpPr>
        <p:spPr>
          <a:xfrm>
            <a:off x="899071" y="3902720"/>
            <a:ext cx="762483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Heebo" pitchFamily="34" charset="0"/>
                <a:ea typeface="Heebo" pitchFamily="34" charset="-122"/>
                <a:cs typeface="Heebo" pitchFamily="34" charset="-120"/>
              </a:rPr>
              <a:t>Die 8-Prozentpunkt-Lücke zwischen Ist (87%) und Ziel (95%) entspricht bei rund 2,5 Millionen täglichen Fahrgästen einer erheblichen volkswirtschaftlichen und reputationalen Belastung für die VBZ.</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23342"/>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52D47"/>
                </a:solidFill>
                <a:latin typeface="Crimson Pro SemiBold" pitchFamily="34" charset="0"/>
                <a:ea typeface="Crimson Pro SemiBold" pitchFamily="34" charset="-122"/>
                <a:cs typeface="Crimson Pro SemiBold" pitchFamily="34" charset="-120"/>
              </a:rPr>
              <a:t>2. Die Überraschungen</a:t>
            </a:r>
            <a:endParaRPr lang="en-US" sz="2400" dirty="0"/>
          </a:p>
        </p:txBody>
      </p:sp>
      <p:sp>
        <p:nvSpPr>
          <p:cNvPr id="3" name="Text 1"/>
          <p:cNvSpPr/>
          <p:nvPr/>
        </p:nvSpPr>
        <p:spPr>
          <a:xfrm>
            <a:off x="496119" y="1058912"/>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D"/>
                </a:solidFill>
                <a:latin typeface="Heebo" pitchFamily="34" charset="0"/>
                <a:ea typeface="Heebo" pitchFamily="34" charset="-122"/>
                <a:cs typeface="Heebo" pitchFamily="34" charset="-120"/>
              </a:rPr>
              <a:t>Die Daten widerlegen drei weit verbreitete Annahmen über die Ursachen von Tramverspätungen in Zürich. Diese Befunde sind nicht nur kontraintuitiv – sie haben direkte Konsequenzen für die Priorisierung von Massnahmen und den Einsatz von Ressourcen.</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1831" y="1595363"/>
            <a:ext cx="2648843" cy="3124795"/>
          </a:xfrm>
          <a:prstGeom prst="rect">
            <a:avLst/>
          </a:prstGeom>
        </p:spPr>
      </p:pic>
      <p:sp>
        <p:nvSpPr>
          <p:cNvPr id="5" name="Text 2"/>
          <p:cNvSpPr/>
          <p:nvPr/>
        </p:nvSpPr>
        <p:spPr>
          <a:xfrm>
            <a:off x="677242" y="1733624"/>
            <a:ext cx="2189187"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 Hotspots: Nicht die Innenstadt</a:t>
            </a:r>
            <a:endParaRPr lang="en-US" sz="1200" dirty="0"/>
          </a:p>
        </p:txBody>
      </p:sp>
      <p:sp>
        <p:nvSpPr>
          <p:cNvPr id="6" name="Text 3"/>
          <p:cNvSpPr/>
          <p:nvPr/>
        </p:nvSpPr>
        <p:spPr>
          <a:xfrm>
            <a:off x="677242" y="2001887"/>
            <a:ext cx="2315170" cy="2580010"/>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D"/>
                </a:solidFill>
                <a:latin typeface="Heebo" pitchFamily="34" charset="0"/>
                <a:ea typeface="Heebo" pitchFamily="34" charset="-122"/>
                <a:cs typeface="Heebo" pitchFamily="34" charset="-120"/>
              </a:rPr>
              <a:t>Entgegen der gängigen Erwartung liegen die kritischsten Verspätungs-Hotspots </a:t>
            </a:r>
            <a:pPr algn="l" indent="0" marL="0">
              <a:lnSpc>
                <a:spcPct val="133000"/>
              </a:lnSpc>
              <a:buNone/>
            </a:pPr>
            <a:r>
              <a:rPr lang="en-US" sz="950" b="1" dirty="0">
                <a:solidFill>
                  <a:srgbClr val="4C4C4D"/>
                </a:solidFill>
                <a:latin typeface="Heebo" pitchFamily="34" charset="0"/>
                <a:ea typeface="Heebo" pitchFamily="34" charset="-122"/>
                <a:cs typeface="Heebo" pitchFamily="34" charset="-120"/>
              </a:rPr>
              <a:t>nicht</a:t>
            </a:r>
            <a:pPr algn="l" indent="0" marL="0">
              <a:lnSpc>
                <a:spcPct val="133000"/>
              </a:lnSpc>
              <a:buNone/>
            </a:pPr>
            <a:r>
              <a:rPr lang="en-US" sz="950" dirty="0">
                <a:solidFill>
                  <a:srgbClr val="4C4C4D"/>
                </a:solidFill>
                <a:latin typeface="Heebo" pitchFamily="34" charset="0"/>
                <a:ea typeface="Heebo" pitchFamily="34" charset="-122"/>
                <a:cs typeface="Heebo" pitchFamily="34" charset="-120"/>
              </a:rPr>
              <a:t> an den stark frequentierten Innenstadtknoten wie Central oder Paradeplatz. Die Daten zeigen eindeutig, dass die Peripherie – konkret die Haltestellen </a:t>
            </a:r>
            <a:pPr algn="l" indent="0" marL="0">
              <a:lnSpc>
                <a:spcPct val="133000"/>
              </a:lnSpc>
              <a:buNone/>
            </a:pPr>
            <a:r>
              <a:rPr lang="en-US" sz="950" b="1" dirty="0">
                <a:solidFill>
                  <a:srgbClr val="4C4C4D"/>
                </a:solidFill>
                <a:latin typeface="Heebo" pitchFamily="34" charset="0"/>
                <a:ea typeface="Heebo" pitchFamily="34" charset="-122"/>
                <a:cs typeface="Heebo" pitchFamily="34" charset="-120"/>
              </a:rPr>
              <a:t>Enzenbühl und Balgrist</a:t>
            </a:r>
            <a:pPr algn="l" indent="0" marL="0">
              <a:lnSpc>
                <a:spcPct val="133000"/>
              </a:lnSpc>
              <a:buNone/>
            </a:pPr>
            <a:r>
              <a:rPr lang="en-US" sz="950" dirty="0">
                <a:solidFill>
                  <a:srgbClr val="4C4C4D"/>
                </a:solidFill>
                <a:latin typeface="Heebo" pitchFamily="34" charset="0"/>
                <a:ea typeface="Heebo" pitchFamily="34" charset="-122"/>
                <a:cs typeface="Heebo" pitchFamily="34" charset="-120"/>
              </a:rPr>
              <a:t> – die höchsten systematischen Verspätungswerte aufweisen. Diese Zonen liegen ausserhalb des klassischen Fokus der Betriebssteuerung und erfordern eine Neuausrichtung des Monitorings.</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40360" y="1595363"/>
            <a:ext cx="2648917" cy="3124795"/>
          </a:xfrm>
          <a:prstGeom prst="rect">
            <a:avLst/>
          </a:prstGeom>
        </p:spPr>
      </p:pic>
      <p:sp>
        <p:nvSpPr>
          <p:cNvPr id="8" name="Text 4"/>
          <p:cNvSpPr/>
          <p:nvPr/>
        </p:nvSpPr>
        <p:spPr>
          <a:xfrm>
            <a:off x="3435772" y="1733624"/>
            <a:ext cx="2315245"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 Peak-Zeiten: Nicht der Morgenrush</a:t>
            </a:r>
            <a:endParaRPr lang="en-US" sz="1200" dirty="0"/>
          </a:p>
        </p:txBody>
      </p:sp>
      <p:sp>
        <p:nvSpPr>
          <p:cNvPr id="9" name="Text 5"/>
          <p:cNvSpPr/>
          <p:nvPr/>
        </p:nvSpPr>
        <p:spPr>
          <a:xfrm>
            <a:off x="3435772" y="2195736"/>
            <a:ext cx="2315245" cy="1984623"/>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D"/>
                </a:solidFill>
                <a:latin typeface="Heebo" pitchFamily="34" charset="0"/>
                <a:ea typeface="Heebo" pitchFamily="34" charset="-122"/>
                <a:cs typeface="Heebo" pitchFamily="34" charset="-120"/>
              </a:rPr>
              <a:t>Der morgendliche Berufsverkehr gilt als die grösste Belastungsprobe für den ÖV. Die Analyse zeigt jedoch, dass die kritischste Stunde </a:t>
            </a:r>
            <a:pPr algn="l" indent="0" marL="0">
              <a:lnSpc>
                <a:spcPct val="133000"/>
              </a:lnSpc>
              <a:buNone/>
            </a:pPr>
            <a:r>
              <a:rPr lang="en-US" sz="950" b="1" dirty="0">
                <a:solidFill>
                  <a:srgbClr val="4C4C4D"/>
                </a:solidFill>
                <a:latin typeface="Heebo" pitchFamily="34" charset="0"/>
                <a:ea typeface="Heebo" pitchFamily="34" charset="-122"/>
                <a:cs typeface="Heebo" pitchFamily="34" charset="-120"/>
              </a:rPr>
              <a:t>21:00 Uhr</a:t>
            </a:r>
            <a:pPr algn="l" indent="0" marL="0">
              <a:lnSpc>
                <a:spcPct val="133000"/>
              </a:lnSpc>
              <a:buNone/>
            </a:pPr>
            <a:r>
              <a:rPr lang="en-US" sz="950" dirty="0">
                <a:solidFill>
                  <a:srgbClr val="4C4C4D"/>
                </a:solidFill>
                <a:latin typeface="Heebo" pitchFamily="34" charset="0"/>
                <a:ea typeface="Heebo" pitchFamily="34" charset="-122"/>
                <a:cs typeface="Heebo" pitchFamily="34" charset="-120"/>
              </a:rPr>
              <a:t> ist – getrieben durch Veranstaltungs-Abreisewellen (Konzerte, Sportanlässe, Kulturveranstaltungen). Diese zeitliche Verschiebung des Peak-Bedarfs wird im aktuellen Fahrplan-Design nicht adäquat abgebildet.</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98964" y="1595363"/>
            <a:ext cx="2648843" cy="3124795"/>
          </a:xfrm>
          <a:prstGeom prst="rect">
            <a:avLst/>
          </a:prstGeom>
        </p:spPr>
      </p:pic>
      <p:sp>
        <p:nvSpPr>
          <p:cNvPr id="11" name="Text 6"/>
          <p:cNvSpPr/>
          <p:nvPr/>
        </p:nvSpPr>
        <p:spPr>
          <a:xfrm>
            <a:off x="6194375" y="1733624"/>
            <a:ext cx="2315170"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a:t>
            </a:r>
            <a:pPr algn="l" indent="0" marL="0">
              <a:lnSpc>
                <a:spcPct val="104000"/>
              </a:lnSpc>
              <a:buNone/>
            </a:pPr>
            <a:r>
              <a:rPr lang="en-US" sz="1200" dirty="0">
                <a:solidFill>
                  <a:srgbClr val="4C4C4D"/>
                </a:solidFill>
                <a:latin typeface="Crimson Pro SemiBold" pitchFamily="34" charset="0"/>
                <a:ea typeface="Crimson Pro SemiBold" pitchFamily="34" charset="-122"/>
                <a:cs typeface="Crimson Pro SemiBold" pitchFamily="34" charset="-120"/>
              </a:rPr>
              <a:t> Wetter: Schnee ist nur ein Verstärker</a:t>
            </a:r>
            <a:endParaRPr lang="en-US" sz="1200" dirty="0"/>
          </a:p>
        </p:txBody>
      </p:sp>
      <p:sp>
        <p:nvSpPr>
          <p:cNvPr id="12" name="Text 7"/>
          <p:cNvSpPr/>
          <p:nvPr/>
        </p:nvSpPr>
        <p:spPr>
          <a:xfrm>
            <a:off x="6194375" y="2195736"/>
            <a:ext cx="2315170" cy="1984623"/>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D"/>
                </a:solidFill>
                <a:latin typeface="Heebo" pitchFamily="34" charset="0"/>
                <a:ea typeface="Heebo" pitchFamily="34" charset="-122"/>
                <a:cs typeface="Heebo" pitchFamily="34" charset="-120"/>
              </a:rPr>
              <a:t>Schneefall erhöht die durchschnittliche Verspätung um </a:t>
            </a:r>
            <a:pPr algn="l" indent="0" marL="0">
              <a:lnSpc>
                <a:spcPct val="133000"/>
              </a:lnSpc>
              <a:buNone/>
            </a:pPr>
            <a:r>
              <a:rPr lang="en-US" sz="950" b="1" dirty="0">
                <a:solidFill>
                  <a:srgbClr val="4C4C4D"/>
                </a:solidFill>
                <a:latin typeface="Heebo" pitchFamily="34" charset="0"/>
                <a:ea typeface="Heebo" pitchFamily="34" charset="-122"/>
                <a:cs typeface="Heebo" pitchFamily="34" charset="-120"/>
              </a:rPr>
              <a:t>+54 Sekunden</a:t>
            </a:r>
            <a:pPr algn="l" indent="0" marL="0">
              <a:lnSpc>
                <a:spcPct val="133000"/>
              </a:lnSpc>
              <a:buNone/>
            </a:pPr>
            <a:r>
              <a:rPr lang="en-US" sz="950" dirty="0">
                <a:solidFill>
                  <a:srgbClr val="4C4C4D"/>
                </a:solidFill>
                <a:latin typeface="Heebo" pitchFamily="34" charset="0"/>
                <a:ea typeface="Heebo" pitchFamily="34" charset="-122"/>
                <a:cs typeface="Heebo" pitchFamily="34" charset="-120"/>
              </a:rPr>
              <a:t> – ein signifikanter, aber sekundärer Effekt. Die Grundursache liegt im </a:t>
            </a:r>
            <a:pPr algn="l" indent="0" marL="0">
              <a:lnSpc>
                <a:spcPct val="133000"/>
              </a:lnSpc>
              <a:buNone/>
            </a:pPr>
            <a:r>
              <a:rPr lang="en-US" sz="950" b="1" dirty="0">
                <a:solidFill>
                  <a:srgbClr val="4C4C4D"/>
                </a:solidFill>
                <a:latin typeface="Heebo" pitchFamily="34" charset="0"/>
                <a:ea typeface="Heebo" pitchFamily="34" charset="-122"/>
                <a:cs typeface="Heebo" pitchFamily="34" charset="-120"/>
              </a:rPr>
              <a:t>wetterunabhängigen Fahrplan-Design</a:t>
            </a:r>
            <a:pPr algn="l" indent="0" marL="0">
              <a:lnSpc>
                <a:spcPct val="133000"/>
              </a:lnSpc>
              <a:buNone/>
            </a:pPr>
            <a:r>
              <a:rPr lang="en-US" sz="950" dirty="0">
                <a:solidFill>
                  <a:srgbClr val="4C4C4D"/>
                </a:solidFill>
                <a:latin typeface="Heebo" pitchFamily="34" charset="0"/>
                <a:ea typeface="Heebo" pitchFamily="34" charset="-122"/>
                <a:cs typeface="Heebo" pitchFamily="34" charset="-120"/>
              </a:rPr>
              <a:t>: Selbst bei idealem Wetter fehlen die strukturellen Puffer, um normale Betriebsschwankungen auszugleichen. Schnee verschärft ein bestehendes Problem; er verursacht es nicht.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84138"/>
            <a:ext cx="3412927" cy="369466"/>
          </a:xfrm>
          <a:prstGeom prst="rect">
            <a:avLst/>
          </a:prstGeom>
          <a:noFill/>
          <a:ln/>
        </p:spPr>
        <p:txBody>
          <a:bodyPr wrap="none" lIns="0" tIns="0" rIns="0" bIns="0" rtlCol="0" anchor="t"/>
          <a:lstStyle/>
          <a:p>
            <a:pPr algn="l" indent="0" marL="0">
              <a:lnSpc>
                <a:spcPct val="104000"/>
              </a:lnSpc>
              <a:buNone/>
            </a:pPr>
            <a:r>
              <a:rPr lang="en-US" sz="2300" dirty="0">
                <a:solidFill>
                  <a:srgbClr val="152D47"/>
                </a:solidFill>
                <a:latin typeface="Crimson Pro SemiBold" pitchFamily="34" charset="0"/>
                <a:ea typeface="Crimson Pro SemiBold" pitchFamily="34" charset="-122"/>
                <a:cs typeface="Crimson Pro SemiBold" pitchFamily="34" charset="-120"/>
              </a:rPr>
              <a:t>3. Die Erkenntnis</a:t>
            </a:r>
            <a:endParaRPr lang="en-US" sz="2300" dirty="0"/>
          </a:p>
        </p:txBody>
      </p:sp>
      <p:sp>
        <p:nvSpPr>
          <p:cNvPr id="3" name="Text 1"/>
          <p:cNvSpPr/>
          <p:nvPr/>
        </p:nvSpPr>
        <p:spPr>
          <a:xfrm>
            <a:off x="496119" y="1078929"/>
            <a:ext cx="8151763" cy="369391"/>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4C4C4D"/>
                </a:solidFill>
                <a:latin typeface="Heebo" pitchFamily="34" charset="0"/>
                <a:ea typeface="Heebo" pitchFamily="34" charset="-122"/>
                <a:cs typeface="Heebo" pitchFamily="34" charset="-120"/>
              </a:rPr>
              <a:t>Die überraschenden Befunde führen zu einer klaren, datengestützten Diagnose: Das Pünktlichkeitsproblem des Zürcher Tramnetzes ist kein operatives Versagen des Fahrpersonals oder der Leitstelle – es ist ein strukturelles Design-Problem, das im Fahrplan selbst verankert ist.</a:t>
            </a:r>
            <a:endParaRPr lang="en-US" sz="900" dirty="0"/>
          </a:p>
        </p:txBody>
      </p:sp>
      <p:sp>
        <p:nvSpPr>
          <p:cNvPr id="4" name="Shape 2"/>
          <p:cNvSpPr/>
          <p:nvPr/>
        </p:nvSpPr>
        <p:spPr>
          <a:xfrm>
            <a:off x="410989" y="1575048"/>
            <a:ext cx="4101926" cy="3084314"/>
          </a:xfrm>
          <a:prstGeom prst="roundRect">
            <a:avLst>
              <a:gd name="adj" fmla="val 575"/>
            </a:avLst>
          </a:prstGeom>
          <a:solidFill>
            <a:srgbClr val="2150FE"/>
          </a:solidFill>
          <a:ln/>
        </p:spPr>
      </p:sp>
      <p:sp>
        <p:nvSpPr>
          <p:cNvPr id="5" name="Text 3"/>
          <p:cNvSpPr/>
          <p:nvPr/>
        </p:nvSpPr>
        <p:spPr>
          <a:xfrm>
            <a:off x="529158" y="1687711"/>
            <a:ext cx="2645494" cy="184696"/>
          </a:xfrm>
          <a:prstGeom prst="rect">
            <a:avLst/>
          </a:prstGeom>
          <a:noFill/>
          <a:ln/>
        </p:spPr>
        <p:txBody>
          <a:bodyPr wrap="none" lIns="0" tIns="0" rIns="0" bIns="0" rtlCol="0" anchor="t"/>
          <a:lstStyle/>
          <a:p>
            <a:pPr algn="l" indent="0" marL="0">
              <a:lnSpc>
                <a:spcPct val="104000"/>
              </a:lnSpc>
              <a:buNone/>
            </a:pPr>
            <a:r>
              <a:rPr lang="en-US" sz="1150" dirty="0">
                <a:solidFill>
                  <a:srgbClr val="FFFFFF"/>
                </a:solidFill>
                <a:latin typeface="Crimson Pro SemiBold" pitchFamily="34" charset="0"/>
                <a:ea typeface="Crimson Pro SemiBold" pitchFamily="34" charset="-122"/>
                <a:cs typeface="Crimson Pro SemiBold" pitchFamily="34" charset="-120"/>
              </a:rPr>
              <a:t>Fahrplan-Design: 71.3% ohne Puffer</a:t>
            </a:r>
            <a:endParaRPr lang="en-US" sz="1150" dirty="0"/>
          </a:p>
        </p:txBody>
      </p:sp>
      <p:sp>
        <p:nvSpPr>
          <p:cNvPr id="6" name="Text 4"/>
          <p:cNvSpPr/>
          <p:nvPr/>
        </p:nvSpPr>
        <p:spPr>
          <a:xfrm>
            <a:off x="529158" y="1985070"/>
            <a:ext cx="3865587" cy="1394222"/>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FFFFFF"/>
                </a:solidFill>
                <a:latin typeface="Heebo" pitchFamily="34" charset="0"/>
                <a:ea typeface="Heebo" pitchFamily="34" charset="-122"/>
                <a:cs typeface="Heebo" pitchFamily="34" charset="-120"/>
              </a:rPr>
              <a:t>Über </a:t>
            </a:r>
            <a:pPr algn="l" indent="0" marL="0">
              <a:lnSpc>
                <a:spcPct val="130000"/>
              </a:lnSpc>
              <a:buNone/>
            </a:pPr>
            <a:r>
              <a:rPr lang="en-US" sz="900" b="1" dirty="0">
                <a:solidFill>
                  <a:srgbClr val="FFFFFF"/>
                </a:solidFill>
                <a:latin typeface="Heebo" pitchFamily="34" charset="0"/>
                <a:ea typeface="Heebo" pitchFamily="34" charset="-122"/>
                <a:cs typeface="Heebo" pitchFamily="34" charset="-120"/>
              </a:rPr>
              <a:t>71.3% aller Haltestellen</a:t>
            </a:r>
            <a:pPr algn="l" indent="0" marL="0">
              <a:lnSpc>
                <a:spcPct val="130000"/>
              </a:lnSpc>
              <a:buNone/>
            </a:pPr>
            <a:r>
              <a:rPr lang="en-US" sz="900" dirty="0">
                <a:solidFill>
                  <a:srgbClr val="FFFFFF"/>
                </a:solidFill>
                <a:latin typeface="Heebo" pitchFamily="34" charset="0"/>
                <a:ea typeface="Heebo" pitchFamily="34" charset="-122"/>
                <a:cs typeface="Heebo" pitchFamily="34" charset="-120"/>
              </a:rPr>
              <a:t> im Zürcher Tramnetz haben exakt </a:t>
            </a:r>
            <a:pPr algn="l" indent="0" marL="0">
              <a:lnSpc>
                <a:spcPct val="130000"/>
              </a:lnSpc>
              <a:buNone/>
            </a:pPr>
            <a:r>
              <a:rPr lang="en-US" sz="900" b="1" dirty="0">
                <a:solidFill>
                  <a:srgbClr val="FFFFFF"/>
                </a:solidFill>
                <a:latin typeface="Heebo" pitchFamily="34" charset="0"/>
                <a:ea typeface="Heebo" pitchFamily="34" charset="-122"/>
                <a:cs typeface="Heebo" pitchFamily="34" charset="-120"/>
              </a:rPr>
              <a:t>0 Sekunden Pufferzeit</a:t>
            </a:r>
            <a:pPr algn="l" indent="0" marL="0">
              <a:lnSpc>
                <a:spcPct val="130000"/>
              </a:lnSpc>
              <a:spcAft>
                <a:spcPts val="750"/>
              </a:spcAft>
              <a:buNone/>
            </a:pPr>
            <a:r>
              <a:rPr lang="en-US" sz="900" dirty="0">
                <a:solidFill>
                  <a:srgbClr val="FFFFFF"/>
                </a:solidFill>
                <a:latin typeface="Heebo" pitchFamily="34" charset="0"/>
                <a:ea typeface="Heebo" pitchFamily="34" charset="-122"/>
                <a:cs typeface="Heebo" pitchFamily="34" charset="-120"/>
              </a:rPr>
              <a:t> im Fahrplan vorgesehen. Das bedeutet: Jede noch so kleine Störung – ein längerer Fahrgastwechsel, ein wartendes Fahrzeug an einer Kreuzung, eine kurzfristige Signalstörung – führt unmittelbar zu einer Verspätung, die sich nicht mehr ausgleichen lässt.</a:t>
            </a:r>
            <a:endParaRPr lang="en-US" sz="900" dirty="0"/>
          </a:p>
          <a:p>
            <a:pPr algn="l" indent="0" marL="0">
              <a:lnSpc>
                <a:spcPct val="130000"/>
              </a:lnSpc>
              <a:buNone/>
            </a:pPr>
            <a:r>
              <a:rPr lang="en-US" sz="900" dirty="0">
                <a:solidFill>
                  <a:srgbClr val="FFFFFF"/>
                </a:solidFill>
                <a:latin typeface="Heebo" pitchFamily="34" charset="0"/>
                <a:ea typeface="Heebo" pitchFamily="34" charset="-122"/>
                <a:cs typeface="Heebo" pitchFamily="34" charset="-120"/>
              </a:rPr>
              <a:t>Ein Fahrplan ohne Puffer ist ein Fahrplan, der keine Realität abbildet – er beschreibt einen Idealzustand, der im Betrieb nicht erreichbar ist.</a:t>
            </a:r>
            <a:endParaRPr lang="en-US" sz="900" dirty="0"/>
          </a:p>
        </p:txBody>
      </p:sp>
      <p:sp>
        <p:nvSpPr>
          <p:cNvPr id="7" name="Text 5"/>
          <p:cNvSpPr/>
          <p:nvPr/>
        </p:nvSpPr>
        <p:spPr>
          <a:xfrm>
            <a:off x="4720977" y="1687711"/>
            <a:ext cx="1939677" cy="184696"/>
          </a:xfrm>
          <a:prstGeom prst="rect">
            <a:avLst/>
          </a:prstGeom>
          <a:noFill/>
          <a:ln/>
        </p:spPr>
        <p:txBody>
          <a:bodyPr wrap="none" lIns="0" tIns="0" rIns="0" bIns="0" rtlCol="0" anchor="t"/>
          <a:lstStyle/>
          <a:p>
            <a:pPr algn="l" indent="0" marL="0">
              <a:lnSpc>
                <a:spcPct val="104000"/>
              </a:lnSpc>
              <a:buNone/>
            </a:pPr>
            <a:r>
              <a:rPr lang="en-US" sz="1150" dirty="0">
                <a:solidFill>
                  <a:srgbClr val="152D47"/>
                </a:solidFill>
                <a:latin typeface="Crimson Pro SemiBold" pitchFamily="34" charset="0"/>
                <a:ea typeface="Crimson Pro SemiBold" pitchFamily="34" charset="-122"/>
                <a:cs typeface="Crimson Pro SemiBold" pitchFamily="34" charset="-120"/>
              </a:rPr>
              <a:t>Kaskadeneffekt: r ≥ 0.85</a:t>
            </a:r>
            <a:endParaRPr lang="en-US" sz="1150" dirty="0"/>
          </a:p>
        </p:txBody>
      </p:sp>
      <p:sp>
        <p:nvSpPr>
          <p:cNvPr id="8" name="Text 6"/>
          <p:cNvSpPr/>
          <p:nvPr/>
        </p:nvSpPr>
        <p:spPr>
          <a:xfrm>
            <a:off x="4720977" y="1985070"/>
            <a:ext cx="3931667" cy="1209526"/>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4C4C4D"/>
                </a:solidFill>
                <a:latin typeface="Heebo" pitchFamily="34" charset="0"/>
                <a:ea typeface="Heebo" pitchFamily="34" charset="-122"/>
                <a:cs typeface="Heebo" pitchFamily="34" charset="-120"/>
              </a:rPr>
              <a:t>Die Korrelation zwischen Verspätungen aufeinanderfolgender Haltestellen liegt bei </a:t>
            </a:r>
            <a:pPr algn="l" indent="0" marL="0">
              <a:lnSpc>
                <a:spcPct val="130000"/>
              </a:lnSpc>
              <a:buNone/>
            </a:pPr>
            <a:r>
              <a:rPr lang="en-US" sz="900" b="1" dirty="0">
                <a:solidFill>
                  <a:srgbClr val="4C4C4D"/>
                </a:solidFill>
                <a:latin typeface="Heebo" pitchFamily="34" charset="0"/>
                <a:ea typeface="Heebo" pitchFamily="34" charset="-122"/>
                <a:cs typeface="Heebo" pitchFamily="34" charset="-120"/>
              </a:rPr>
              <a:t>r ≥ 0.85</a:t>
            </a:r>
            <a:pPr algn="l" indent="0" marL="0">
              <a:lnSpc>
                <a:spcPct val="130000"/>
              </a:lnSpc>
              <a:spcAft>
                <a:spcPts val="750"/>
              </a:spcAft>
              <a:buNone/>
            </a:pPr>
            <a:r>
              <a:rPr lang="en-US" sz="900" dirty="0">
                <a:solidFill>
                  <a:srgbClr val="4C4C4D"/>
                </a:solidFill>
                <a:latin typeface="Heebo" pitchFamily="34" charset="0"/>
                <a:ea typeface="Heebo" pitchFamily="34" charset="-122"/>
                <a:cs typeface="Heebo" pitchFamily="34" charset="-120"/>
              </a:rPr>
              <a:t> – ein sehr starker linearer Zusammenhang. Verspätungen bauen sich entlang der Strecke kumulativ auf: Eine Minute Verzögerung am Streckenanfang kann am Endpunkt zu mehreren Minuten führen.</a:t>
            </a:r>
            <a:endParaRPr lang="en-US" sz="900" dirty="0"/>
          </a:p>
          <a:p>
            <a:pPr algn="l" indent="0" marL="0">
              <a:lnSpc>
                <a:spcPct val="130000"/>
              </a:lnSpc>
              <a:buNone/>
            </a:pPr>
            <a:r>
              <a:rPr lang="en-US" sz="900" dirty="0">
                <a:solidFill>
                  <a:srgbClr val="4C4C4D"/>
                </a:solidFill>
                <a:latin typeface="Heebo" pitchFamily="34" charset="0"/>
                <a:ea typeface="Heebo" pitchFamily="34" charset="-122"/>
                <a:cs typeface="Heebo" pitchFamily="34" charset="-120"/>
              </a:rPr>
              <a:t>Dieser Kaskadeneffekt ist das eigentliche Betriebsrisiko: Ohne Puffer fehlt die Möglichkeit, die Kaskade zu unterbrechen oder zu dämpfen.</a:t>
            </a:r>
            <a:endParaRPr lang="en-US" sz="900" dirty="0"/>
          </a:p>
        </p:txBody>
      </p:sp>
      <p:sp>
        <p:nvSpPr>
          <p:cNvPr id="9" name="Shape 7"/>
          <p:cNvSpPr/>
          <p:nvPr/>
        </p:nvSpPr>
        <p:spPr>
          <a:xfrm>
            <a:off x="4720977" y="3350865"/>
            <a:ext cx="3931667" cy="14734"/>
          </a:xfrm>
          <a:prstGeom prst="roundRect">
            <a:avLst>
              <a:gd name="adj" fmla="val 120366"/>
            </a:avLst>
          </a:prstGeom>
          <a:solidFill>
            <a:srgbClr val="4C4C4D">
              <a:alpha val="50000"/>
            </a:srgbClr>
          </a:solidFill>
          <a:ln/>
        </p:spPr>
      </p:sp>
      <p:sp>
        <p:nvSpPr>
          <p:cNvPr id="10" name="Text 8"/>
          <p:cNvSpPr/>
          <p:nvPr/>
        </p:nvSpPr>
        <p:spPr>
          <a:xfrm>
            <a:off x="4720977" y="3521869"/>
            <a:ext cx="1935063" cy="184696"/>
          </a:xfrm>
          <a:prstGeom prst="rect">
            <a:avLst/>
          </a:prstGeom>
          <a:noFill/>
          <a:ln/>
        </p:spPr>
        <p:txBody>
          <a:bodyPr wrap="none" lIns="0" tIns="0" rIns="0" bIns="0" rtlCol="0" anchor="t"/>
          <a:lstStyle/>
          <a:p>
            <a:pPr algn="l" indent="0" marL="0">
              <a:lnSpc>
                <a:spcPct val="104000"/>
              </a:lnSpc>
              <a:buNone/>
            </a:pPr>
            <a:r>
              <a:rPr lang="en-US" sz="1150" dirty="0">
                <a:solidFill>
                  <a:srgbClr val="152D47"/>
                </a:solidFill>
                <a:latin typeface="Crimson Pro SemiBold" pitchFamily="34" charset="0"/>
                <a:ea typeface="Crimson Pro SemiBold" pitchFamily="34" charset="-122"/>
                <a:cs typeface="Crimson Pro SemiBold" pitchFamily="34" charset="-120"/>
              </a:rPr>
              <a:t>Fazit</a:t>
            </a:r>
            <a:endParaRPr lang="en-US" sz="1150" dirty="0"/>
          </a:p>
        </p:txBody>
      </p:sp>
      <p:sp>
        <p:nvSpPr>
          <p:cNvPr id="11" name="Text 9"/>
          <p:cNvSpPr/>
          <p:nvPr/>
        </p:nvSpPr>
        <p:spPr>
          <a:xfrm>
            <a:off x="4720977" y="3819227"/>
            <a:ext cx="3931667" cy="738783"/>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4C4C4D"/>
                </a:solidFill>
                <a:latin typeface="Heebo" pitchFamily="34" charset="0"/>
                <a:ea typeface="Heebo" pitchFamily="34" charset="-122"/>
                <a:cs typeface="Heebo" pitchFamily="34" charset="-120"/>
              </a:rPr>
              <a:t>Es handelt sich </a:t>
            </a:r>
            <a:pPr algn="l" indent="0" marL="0">
              <a:lnSpc>
                <a:spcPct val="130000"/>
              </a:lnSpc>
              <a:buNone/>
            </a:pPr>
            <a:r>
              <a:rPr lang="en-US" sz="900" b="1" dirty="0">
                <a:solidFill>
                  <a:srgbClr val="4C4C4D"/>
                </a:solidFill>
                <a:latin typeface="Heebo" pitchFamily="34" charset="0"/>
                <a:ea typeface="Heebo" pitchFamily="34" charset="-122"/>
                <a:cs typeface="Heebo" pitchFamily="34" charset="-120"/>
              </a:rPr>
              <a:t>nicht um ein Betriebsversagen</a:t>
            </a:r>
            <a:pPr algn="l" indent="0" marL="0">
              <a:lnSpc>
                <a:spcPct val="130000"/>
              </a:lnSpc>
              <a:buNone/>
            </a:pPr>
            <a:r>
              <a:rPr lang="en-US" sz="900" dirty="0">
                <a:solidFill>
                  <a:srgbClr val="4C4C4D"/>
                </a:solidFill>
                <a:latin typeface="Heebo" pitchFamily="34" charset="0"/>
                <a:ea typeface="Heebo" pitchFamily="34" charset="-122"/>
                <a:cs typeface="Heebo" pitchFamily="34" charset="-120"/>
              </a:rPr>
              <a:t>, sondern um ein </a:t>
            </a:r>
            <a:pPr algn="l" indent="0" marL="0">
              <a:lnSpc>
                <a:spcPct val="130000"/>
              </a:lnSpc>
              <a:buNone/>
            </a:pPr>
            <a:r>
              <a:rPr lang="en-US" sz="900" b="1" dirty="0">
                <a:solidFill>
                  <a:srgbClr val="4C4C4D"/>
                </a:solidFill>
                <a:latin typeface="Heebo" pitchFamily="34" charset="0"/>
                <a:ea typeface="Heebo" pitchFamily="34" charset="-122"/>
                <a:cs typeface="Heebo" pitchFamily="34" charset="-120"/>
              </a:rPr>
              <a:t>strukturelles Design-Thema</a:t>
            </a:r>
            <a:pPr algn="l" indent="0" marL="0">
              <a:lnSpc>
                <a:spcPct val="130000"/>
              </a:lnSpc>
              <a:buNone/>
            </a:pPr>
            <a:r>
              <a:rPr lang="en-US" sz="900" dirty="0">
                <a:solidFill>
                  <a:srgbClr val="4C4C4D"/>
                </a:solidFill>
                <a:latin typeface="Heebo" pitchFamily="34" charset="0"/>
                <a:ea typeface="Heebo" pitchFamily="34" charset="-122"/>
                <a:cs typeface="Heebo" pitchFamily="34" charset="-120"/>
              </a:rPr>
              <a:t>. Was im Fahrplan nicht vorgesehen ist, kann im Betrieb nicht ausgeglichen werden. Die Lösung liegt in der Neugestaltung des Fahrplans – nicht in der Optimierung des Betriebs.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667991" y="398338"/>
            <a:ext cx="2298502" cy="230088"/>
          </a:xfrm>
          <a:prstGeom prst="rect">
            <a:avLst/>
          </a:prstGeom>
          <a:noFill/>
          <a:ln/>
        </p:spPr>
        <p:txBody>
          <a:bodyPr wrap="none" lIns="0" tIns="0" rIns="0" bIns="0" rtlCol="0" anchor="t"/>
          <a:lstStyle/>
          <a:p>
            <a:pPr algn="l" indent="0" marL="0">
              <a:lnSpc>
                <a:spcPct val="104000"/>
              </a:lnSpc>
              <a:buNone/>
            </a:pPr>
            <a:r>
              <a:rPr lang="en-US" sz="1400" dirty="0">
                <a:solidFill>
                  <a:srgbClr val="152D47"/>
                </a:solidFill>
                <a:latin typeface="Crimson Pro SemiBold" pitchFamily="34" charset="0"/>
                <a:ea typeface="Crimson Pro SemiBold" pitchFamily="34" charset="-122"/>
                <a:cs typeface="Crimson Pro SemiBold" pitchFamily="34" charset="-120"/>
              </a:rPr>
              <a:t>4. Das Modell</a:t>
            </a:r>
            <a:endParaRPr lang="en-US" sz="1400" dirty="0"/>
          </a:p>
        </p:txBody>
      </p:sp>
      <p:sp>
        <p:nvSpPr>
          <p:cNvPr id="3" name="Text 1"/>
          <p:cNvSpPr/>
          <p:nvPr/>
        </p:nvSpPr>
        <p:spPr>
          <a:xfrm>
            <a:off x="1667991" y="715863"/>
            <a:ext cx="5808018" cy="187821"/>
          </a:xfrm>
          <a:prstGeom prst="rect">
            <a:avLst/>
          </a:prstGeom>
          <a:noFill/>
          <a:ln/>
        </p:spPr>
        <p:txBody>
          <a:bodyPr wrap="square" lIns="0" tIns="0" rIns="0" bIns="0" rtlCol="0" anchor="t">
            <a:normAutofit/>
          </a:bodyPr>
          <a:lstStyle/>
          <a:p>
            <a:pPr algn="l" indent="0" marL="0">
              <a:lnSpc>
                <a:spcPct val="106000"/>
              </a:lnSpc>
              <a:buNone/>
            </a:pPr>
            <a:r>
              <a:rPr lang="en-US" sz="550" dirty="0">
                <a:solidFill>
                  <a:srgbClr val="4C4C4D"/>
                </a:solidFill>
                <a:latin typeface="Heebo" pitchFamily="34" charset="0"/>
                <a:ea typeface="Heebo" pitchFamily="34" charset="-122"/>
                <a:cs typeface="Heebo" pitchFamily="34" charset="-120"/>
              </a:rPr>
              <a:t>Auf Basis der strukturellen Erkenntnisse wurde ein prädiktives Machine-Learning-Modell entwickelt, das Verspätungen vorhersagen kann, bevor sie sich zur Kaskade aufbauen. Das Modell kombiniert historische IST-Daten, Wetterinformationen und den Delay des Vorgänger-Trips zu einem robusten Frühwarnsystem für die Betriebsleitstelle.</a:t>
            </a:r>
            <a:endParaRPr lang="en-US" sz="550" dirty="0"/>
          </a:p>
        </p:txBody>
      </p:sp>
      <p:sp>
        <p:nvSpPr>
          <p:cNvPr id="4" name="Shape 2"/>
          <p:cNvSpPr/>
          <p:nvPr/>
        </p:nvSpPr>
        <p:spPr>
          <a:xfrm>
            <a:off x="1667991" y="952872"/>
            <a:ext cx="1906860" cy="851892"/>
          </a:xfrm>
          <a:prstGeom prst="roundRect">
            <a:avLst>
              <a:gd name="adj" fmla="val 1297"/>
            </a:avLst>
          </a:prstGeom>
          <a:solidFill>
            <a:srgbClr val="F2EEEE"/>
          </a:solidFill>
          <a:ln/>
        </p:spPr>
      </p:sp>
      <p:sp>
        <p:nvSpPr>
          <p:cNvPr id="5" name="Text 3"/>
          <p:cNvSpPr/>
          <p:nvPr/>
        </p:nvSpPr>
        <p:spPr>
          <a:xfrm>
            <a:off x="1741587" y="1026468"/>
            <a:ext cx="920651" cy="115044"/>
          </a:xfrm>
          <a:prstGeom prst="rect">
            <a:avLst/>
          </a:prstGeom>
          <a:noFill/>
          <a:ln/>
        </p:spPr>
        <p:txBody>
          <a:bodyPr wrap="none" lIns="0" tIns="0" rIns="0" bIns="0" rtlCol="0" anchor="t"/>
          <a:lstStyle/>
          <a:p>
            <a:pPr algn="l" indent="0" marL="0">
              <a:lnSpc>
                <a:spcPct val="104000"/>
              </a:lnSpc>
              <a:buNone/>
            </a:pPr>
            <a:r>
              <a:rPr lang="en-US" sz="700" dirty="0">
                <a:solidFill>
                  <a:srgbClr val="4C4C4D"/>
                </a:solidFill>
                <a:latin typeface="Crimson Pro SemiBold" pitchFamily="34" charset="0"/>
                <a:ea typeface="Crimson Pro SemiBold" pitchFamily="34" charset="-122"/>
                <a:cs typeface="Crimson Pro SemiBold" pitchFamily="34" charset="-120"/>
              </a:rPr>
              <a:t>MAE: 18.6 Sekunden</a:t>
            </a:r>
            <a:endParaRPr lang="en-US" sz="700" dirty="0"/>
          </a:p>
        </p:txBody>
      </p:sp>
      <p:sp>
        <p:nvSpPr>
          <p:cNvPr id="6" name="Text 4"/>
          <p:cNvSpPr/>
          <p:nvPr/>
        </p:nvSpPr>
        <p:spPr>
          <a:xfrm>
            <a:off x="1741587" y="1167705"/>
            <a:ext cx="1759669" cy="469553"/>
          </a:xfrm>
          <a:prstGeom prst="rect">
            <a:avLst/>
          </a:prstGeom>
          <a:noFill/>
          <a:ln/>
        </p:spPr>
        <p:txBody>
          <a:bodyPr wrap="square" lIns="0" tIns="0" rIns="0" bIns="0" rtlCol="0" anchor="t">
            <a:normAutofit/>
          </a:bodyPr>
          <a:lstStyle/>
          <a:p>
            <a:pPr algn="l" indent="0" marL="0">
              <a:lnSpc>
                <a:spcPct val="106000"/>
              </a:lnSpc>
              <a:buNone/>
            </a:pPr>
            <a:r>
              <a:rPr lang="en-US" sz="550" dirty="0">
                <a:solidFill>
                  <a:srgbClr val="4C4C4D"/>
                </a:solidFill>
                <a:latin typeface="Heebo" pitchFamily="34" charset="0"/>
                <a:ea typeface="Heebo" pitchFamily="34" charset="-122"/>
                <a:cs typeface="Heebo" pitchFamily="34" charset="-120"/>
              </a:rPr>
              <a:t>Das LightGBM v2-Modell erreicht einen Mean Absolute Error von lediglich </a:t>
            </a:r>
            <a:pPr algn="l" indent="0" marL="0">
              <a:lnSpc>
                <a:spcPct val="106000"/>
              </a:lnSpc>
              <a:buNone/>
            </a:pPr>
            <a:r>
              <a:rPr lang="en-US" sz="550" b="1" dirty="0">
                <a:solidFill>
                  <a:srgbClr val="4C4C4D"/>
                </a:solidFill>
                <a:latin typeface="Heebo" pitchFamily="34" charset="0"/>
                <a:ea typeface="Heebo" pitchFamily="34" charset="-122"/>
                <a:cs typeface="Heebo" pitchFamily="34" charset="-120"/>
              </a:rPr>
              <a:t>18.6 Sekunden</a:t>
            </a:r>
            <a:pPr algn="l" indent="0" marL="0">
              <a:lnSpc>
                <a:spcPct val="106000"/>
              </a:lnSpc>
              <a:buNone/>
            </a:pPr>
            <a:r>
              <a:rPr lang="en-US" sz="550" dirty="0">
                <a:solidFill>
                  <a:srgbClr val="4C4C4D"/>
                </a:solidFill>
                <a:latin typeface="Heebo" pitchFamily="34" charset="0"/>
                <a:ea typeface="Heebo" pitchFamily="34" charset="-122"/>
                <a:cs typeface="Heebo" pitchFamily="34" charset="-120"/>
              </a:rPr>
              <a:t> bei der Vorhersage von Ankunftsverspätungen. Dies ist eine präzise Grundlage für operative Entscheidungen in der Leitstelle.</a:t>
            </a:r>
            <a:endParaRPr lang="en-US" sz="550" dirty="0"/>
          </a:p>
        </p:txBody>
      </p:sp>
      <p:sp>
        <p:nvSpPr>
          <p:cNvPr id="7" name="Shape 5"/>
          <p:cNvSpPr/>
          <p:nvPr/>
        </p:nvSpPr>
        <p:spPr>
          <a:xfrm>
            <a:off x="3618533" y="952872"/>
            <a:ext cx="1906860" cy="851892"/>
          </a:xfrm>
          <a:prstGeom prst="roundRect">
            <a:avLst>
              <a:gd name="adj" fmla="val 1297"/>
            </a:avLst>
          </a:prstGeom>
          <a:solidFill>
            <a:srgbClr val="F2EEEE"/>
          </a:solidFill>
          <a:ln/>
        </p:spPr>
      </p:sp>
      <p:sp>
        <p:nvSpPr>
          <p:cNvPr id="8" name="Text 6"/>
          <p:cNvSpPr/>
          <p:nvPr/>
        </p:nvSpPr>
        <p:spPr>
          <a:xfrm>
            <a:off x="3692128" y="1026468"/>
            <a:ext cx="920651" cy="115044"/>
          </a:xfrm>
          <a:prstGeom prst="rect">
            <a:avLst/>
          </a:prstGeom>
          <a:noFill/>
          <a:ln/>
        </p:spPr>
        <p:txBody>
          <a:bodyPr wrap="none" lIns="0" tIns="0" rIns="0" bIns="0" rtlCol="0" anchor="t"/>
          <a:lstStyle/>
          <a:p>
            <a:pPr algn="l" indent="0" marL="0">
              <a:lnSpc>
                <a:spcPct val="104000"/>
              </a:lnSpc>
              <a:buNone/>
            </a:pPr>
            <a:r>
              <a:rPr lang="en-US" sz="700" dirty="0">
                <a:solidFill>
                  <a:srgbClr val="4C4C4D"/>
                </a:solidFill>
                <a:latin typeface="Crimson Pro SemiBold" pitchFamily="34" charset="0"/>
                <a:ea typeface="Crimson Pro SemiBold" pitchFamily="34" charset="-122"/>
                <a:cs typeface="Crimson Pro SemiBold" pitchFamily="34" charset="-120"/>
              </a:rPr>
              <a:t>−63% vs. Baseline</a:t>
            </a:r>
            <a:endParaRPr lang="en-US" sz="700" dirty="0"/>
          </a:p>
        </p:txBody>
      </p:sp>
      <p:sp>
        <p:nvSpPr>
          <p:cNvPr id="9" name="Text 7"/>
          <p:cNvSpPr/>
          <p:nvPr/>
        </p:nvSpPr>
        <p:spPr>
          <a:xfrm>
            <a:off x="3692128" y="1167705"/>
            <a:ext cx="1759669" cy="563463"/>
          </a:xfrm>
          <a:prstGeom prst="rect">
            <a:avLst/>
          </a:prstGeom>
          <a:noFill/>
          <a:ln/>
        </p:spPr>
        <p:txBody>
          <a:bodyPr wrap="square" lIns="0" tIns="0" rIns="0" bIns="0" rtlCol="0" anchor="t">
            <a:normAutofit/>
          </a:bodyPr>
          <a:lstStyle/>
          <a:p>
            <a:pPr algn="l" indent="0" marL="0">
              <a:lnSpc>
                <a:spcPct val="106000"/>
              </a:lnSpc>
              <a:buNone/>
            </a:pPr>
            <a:r>
              <a:rPr lang="en-US" sz="550" dirty="0">
                <a:solidFill>
                  <a:srgbClr val="4C4C4D"/>
                </a:solidFill>
                <a:latin typeface="Heebo" pitchFamily="34" charset="0"/>
                <a:ea typeface="Heebo" pitchFamily="34" charset="-122"/>
                <a:cs typeface="Heebo" pitchFamily="34" charset="-120"/>
              </a:rPr>
              <a:t>Im Vergleich zur einfachen Baseline (Stop Mean – dem historischen Durchschnitt pro Haltestelle) verbessert das Modell die Vorhersagegenauigkeit um </a:t>
            </a:r>
            <a:pPr algn="l" indent="0" marL="0">
              <a:lnSpc>
                <a:spcPct val="106000"/>
              </a:lnSpc>
              <a:buNone/>
            </a:pPr>
            <a:r>
              <a:rPr lang="en-US" sz="550" b="1" dirty="0">
                <a:solidFill>
                  <a:srgbClr val="4C4C4D"/>
                </a:solidFill>
                <a:latin typeface="Heebo" pitchFamily="34" charset="0"/>
                <a:ea typeface="Heebo" pitchFamily="34" charset="-122"/>
                <a:cs typeface="Heebo" pitchFamily="34" charset="-120"/>
              </a:rPr>
              <a:t>63%</a:t>
            </a:r>
            <a:pPr algn="l" indent="0" marL="0">
              <a:lnSpc>
                <a:spcPct val="106000"/>
              </a:lnSpc>
              <a:buNone/>
            </a:pPr>
            <a:r>
              <a:rPr lang="en-US" sz="550" dirty="0">
                <a:solidFill>
                  <a:srgbClr val="4C4C4D"/>
                </a:solidFill>
                <a:latin typeface="Heebo" pitchFamily="34" charset="0"/>
                <a:ea typeface="Heebo" pitchFamily="34" charset="-122"/>
                <a:cs typeface="Heebo" pitchFamily="34" charset="-120"/>
              </a:rPr>
              <a:t>. Dies zeigt den Mehrwert der multivariaten Modellierung gegenüber simplen statistischen Schätzern.</a:t>
            </a:r>
            <a:endParaRPr lang="en-US" sz="550" dirty="0"/>
          </a:p>
        </p:txBody>
      </p:sp>
      <p:sp>
        <p:nvSpPr>
          <p:cNvPr id="10" name="Shape 8"/>
          <p:cNvSpPr/>
          <p:nvPr/>
        </p:nvSpPr>
        <p:spPr>
          <a:xfrm>
            <a:off x="5569074" y="952872"/>
            <a:ext cx="1906860" cy="851892"/>
          </a:xfrm>
          <a:prstGeom prst="roundRect">
            <a:avLst>
              <a:gd name="adj" fmla="val 1297"/>
            </a:avLst>
          </a:prstGeom>
          <a:solidFill>
            <a:srgbClr val="F2EEEE"/>
          </a:solidFill>
          <a:ln/>
        </p:spPr>
      </p:sp>
      <p:sp>
        <p:nvSpPr>
          <p:cNvPr id="11" name="Text 9"/>
          <p:cNvSpPr/>
          <p:nvPr/>
        </p:nvSpPr>
        <p:spPr>
          <a:xfrm>
            <a:off x="5642670" y="1026468"/>
            <a:ext cx="920651" cy="115044"/>
          </a:xfrm>
          <a:prstGeom prst="rect">
            <a:avLst/>
          </a:prstGeom>
          <a:noFill/>
          <a:ln/>
        </p:spPr>
        <p:txBody>
          <a:bodyPr wrap="none" lIns="0" tIns="0" rIns="0" bIns="0" rtlCol="0" anchor="t"/>
          <a:lstStyle/>
          <a:p>
            <a:pPr algn="l" indent="0" marL="0">
              <a:lnSpc>
                <a:spcPct val="104000"/>
              </a:lnSpc>
              <a:buNone/>
            </a:pPr>
            <a:r>
              <a:rPr lang="en-US" sz="700" dirty="0">
                <a:solidFill>
                  <a:srgbClr val="4C4C4D"/>
                </a:solidFill>
                <a:latin typeface="Crimson Pro SemiBold" pitchFamily="34" charset="0"/>
                <a:ea typeface="Crimson Pro SemiBold" pitchFamily="34" charset="-122"/>
                <a:cs typeface="Crimson Pro SemiBold" pitchFamily="34" charset="-120"/>
              </a:rPr>
              <a:t>Frühwarnsignal</a:t>
            </a:r>
            <a:endParaRPr lang="en-US" sz="700" dirty="0"/>
          </a:p>
        </p:txBody>
      </p:sp>
      <p:sp>
        <p:nvSpPr>
          <p:cNvPr id="12" name="Text 10"/>
          <p:cNvSpPr/>
          <p:nvPr/>
        </p:nvSpPr>
        <p:spPr>
          <a:xfrm>
            <a:off x="5642670" y="1167705"/>
            <a:ext cx="1759669" cy="469553"/>
          </a:xfrm>
          <a:prstGeom prst="rect">
            <a:avLst/>
          </a:prstGeom>
          <a:noFill/>
          <a:ln/>
        </p:spPr>
        <p:txBody>
          <a:bodyPr wrap="square" lIns="0" tIns="0" rIns="0" bIns="0" rtlCol="0" anchor="t">
            <a:normAutofit/>
          </a:bodyPr>
          <a:lstStyle/>
          <a:p>
            <a:pPr algn="l" indent="0" marL="0">
              <a:lnSpc>
                <a:spcPct val="106000"/>
              </a:lnSpc>
              <a:buNone/>
            </a:pPr>
            <a:r>
              <a:rPr lang="en-US" sz="550" dirty="0">
                <a:solidFill>
                  <a:srgbClr val="4C4C4D"/>
                </a:solidFill>
                <a:latin typeface="Heebo" pitchFamily="34" charset="0"/>
                <a:ea typeface="Heebo" pitchFamily="34" charset="-122"/>
                <a:cs typeface="Heebo" pitchFamily="34" charset="-120"/>
              </a:rPr>
              <a:t>Die Kombination aus </a:t>
            </a:r>
            <a:pPr algn="l" indent="0" marL="0">
              <a:lnSpc>
                <a:spcPct val="106000"/>
              </a:lnSpc>
              <a:buNone/>
            </a:pPr>
            <a:r>
              <a:rPr lang="en-US" sz="550" b="1" dirty="0">
                <a:solidFill>
                  <a:srgbClr val="4C4C4D"/>
                </a:solidFill>
                <a:latin typeface="Heebo" pitchFamily="34" charset="0"/>
                <a:ea typeface="Heebo" pitchFamily="34" charset="-122"/>
                <a:cs typeface="Heebo" pitchFamily="34" charset="-120"/>
              </a:rPr>
              <a:t>Zeit, Wetter und Vorgänger-Trip-Delay</a:t>
            </a:r>
            <a:pPr algn="l" indent="0" marL="0">
              <a:lnSpc>
                <a:spcPct val="106000"/>
              </a:lnSpc>
              <a:buNone/>
            </a:pPr>
            <a:r>
              <a:rPr lang="en-US" sz="550" dirty="0">
                <a:solidFill>
                  <a:srgbClr val="4C4C4D"/>
                </a:solidFill>
                <a:latin typeface="Heebo" pitchFamily="34" charset="0"/>
                <a:ea typeface="Heebo" pitchFamily="34" charset="-122"/>
                <a:cs typeface="Heebo" pitchFamily="34" charset="-120"/>
              </a:rPr>
              <a:t> ermöglicht es, Verspätungskaskaden zu antizipieren, bevor sie sich vollständig entfalten. Die Leitstelle kann proaktiv eingreifen – etwa durch gezielte Haltezeitverlängerungen oder Umleitungen.</a:t>
            </a:r>
            <a:endParaRPr lang="en-US" sz="550" dirty="0"/>
          </a:p>
        </p:txBody>
      </p:sp>
      <p:pic>
        <p:nvPicPr>
          <p:cNvPr id="13" name="Image 0" descr="preencoded.png">    </p:cNvPr>
          <p:cNvPicPr>
            <a:picLocks noChangeAspect="1"/>
          </p:cNvPicPr>
          <p:nvPr/>
        </p:nvPicPr>
        <p:blipFill>
          <a:blip r:embed="rId1"/>
          <a:stretch>
            <a:fillRect/>
          </a:stretch>
        </p:blipFill>
        <p:spPr>
          <a:xfrm>
            <a:off x="2610371" y="1853952"/>
            <a:ext cx="3923184" cy="2654126"/>
          </a:xfrm>
          <a:prstGeom prst="rect">
            <a:avLst/>
          </a:prstGeom>
        </p:spPr>
      </p:pic>
      <p:sp>
        <p:nvSpPr>
          <p:cNvPr id="14" name="Text 11"/>
          <p:cNvSpPr/>
          <p:nvPr/>
        </p:nvSpPr>
        <p:spPr>
          <a:xfrm>
            <a:off x="4205470" y="2892795"/>
            <a:ext cx="714381" cy="490047"/>
          </a:xfrm>
          <a:prstGeom prst="rect">
            <a:avLst/>
          </a:prstGeom>
          <a:noFill/>
          <a:ln/>
        </p:spPr>
        <p:txBody>
          <a:bodyPr wrap="square" lIns="0" tIns="0" rIns="0" bIns="0" rtlCol="0" anchor="t">
            <a:normAutofit/>
          </a:bodyPr>
          <a:lstStyle/>
          <a:p>
            <a:pPr algn="ctr" indent="0" marL="0">
              <a:lnSpc>
                <a:spcPct val="104000"/>
              </a:lnSpc>
              <a:buNone/>
            </a:pPr>
            <a:r>
              <a:rPr lang="en-US" sz="1000" dirty="0">
                <a:solidFill>
                  <a:srgbClr val="FFFFFF"/>
                </a:solidFill>
                <a:latin typeface="Crimson Pro SemiBold" pitchFamily="34" charset="0"/>
                <a:ea typeface="Crimson Pro SemiBold" pitchFamily="34" charset="-122"/>
                <a:cs typeface="Crimson Pro SemiBold" pitchFamily="34" charset="-120"/>
              </a:rPr>
              <a:t>Verspätungsprognose Modell</a:t>
            </a:r>
            <a:endParaRPr lang="en-US" sz="1000" dirty="0"/>
          </a:p>
        </p:txBody>
      </p:sp>
      <p:sp>
        <p:nvSpPr>
          <p:cNvPr id="15" name="Text 12"/>
          <p:cNvSpPr/>
          <p:nvPr/>
        </p:nvSpPr>
        <p:spPr>
          <a:xfrm>
            <a:off x="5273138" y="3674693"/>
            <a:ext cx="1062768" cy="326698"/>
          </a:xfrm>
          <a:prstGeom prst="rect">
            <a:avLst/>
          </a:prstGeom>
          <a:noFill/>
          <a:ln/>
        </p:spPr>
        <p:txBody>
          <a:bodyPr wrap="square" lIns="0" tIns="0" rIns="0" bIns="0" rtlCol="0" anchor="t">
            <a:normAutofit/>
          </a:bodyPr>
          <a:lstStyle/>
          <a:p>
            <a:pPr algn="ctr" indent="0" marL="0">
              <a:lnSpc>
                <a:spcPct val="104000"/>
              </a:lnSpc>
              <a:buNone/>
            </a:pPr>
            <a:r>
              <a:rPr lang="en-US" sz="1000" dirty="0">
                <a:solidFill>
                  <a:srgbClr val="4C4C4D"/>
                </a:solidFill>
                <a:latin typeface="Crimson Pro SemiBold" pitchFamily="34" charset="0"/>
                <a:ea typeface="Crimson Pro SemiBold" pitchFamily="34" charset="-122"/>
                <a:cs typeface="Crimson Pro SemiBold" pitchFamily="34" charset="-120"/>
              </a:rPr>
              <a:t>Wetterbedingungen</a:t>
            </a:r>
            <a:endParaRPr lang="en-US" sz="1000" dirty="0"/>
          </a:p>
        </p:txBody>
      </p:sp>
      <p:sp>
        <p:nvSpPr>
          <p:cNvPr id="16" name="Text 13"/>
          <p:cNvSpPr/>
          <p:nvPr/>
        </p:nvSpPr>
        <p:spPr>
          <a:xfrm>
            <a:off x="5273138" y="4047855"/>
            <a:ext cx="1062768" cy="208179"/>
          </a:xfrm>
          <a:prstGeom prst="rect">
            <a:avLst/>
          </a:prstGeom>
          <a:noFill/>
          <a:ln/>
        </p:spPr>
        <p:txBody>
          <a:bodyPr wrap="square" lIns="0" tIns="0" rIns="0" bIns="0" rtlCol="0" anchor="t">
            <a:normAutofit/>
          </a:bodyPr>
          <a:lstStyle/>
          <a:p>
            <a:pPr algn="ctr" indent="0" marL="0">
              <a:lnSpc>
                <a:spcPct val="83000"/>
              </a:lnSpc>
              <a:buNone/>
            </a:pPr>
            <a:r>
              <a:rPr lang="en-US" sz="800" dirty="0">
                <a:solidFill>
                  <a:srgbClr val="4C4C4D"/>
                </a:solidFill>
                <a:latin typeface="Heebo" pitchFamily="34" charset="0"/>
                <a:ea typeface="Heebo" pitchFamily="34" charset="-122"/>
                <a:cs typeface="Heebo" pitchFamily="34" charset="-120"/>
              </a:rPr>
              <a:t>Meteo Schweiz Vorhersagen</a:t>
            </a:r>
            <a:endParaRPr lang="en-US" sz="800" dirty="0"/>
          </a:p>
        </p:txBody>
      </p:sp>
      <p:sp>
        <p:nvSpPr>
          <p:cNvPr id="17" name="Text 14"/>
          <p:cNvSpPr/>
          <p:nvPr/>
        </p:nvSpPr>
        <p:spPr>
          <a:xfrm>
            <a:off x="2782517" y="3674693"/>
            <a:ext cx="1062768" cy="326698"/>
          </a:xfrm>
          <a:prstGeom prst="rect">
            <a:avLst/>
          </a:prstGeom>
          <a:noFill/>
          <a:ln/>
        </p:spPr>
        <p:txBody>
          <a:bodyPr wrap="square" lIns="0" tIns="0" rIns="0" bIns="0" rtlCol="0" anchor="t">
            <a:normAutofit/>
          </a:bodyPr>
          <a:lstStyle/>
          <a:p>
            <a:pPr algn="ctr" indent="0" marL="0">
              <a:lnSpc>
                <a:spcPct val="104000"/>
              </a:lnSpc>
              <a:buNone/>
            </a:pPr>
            <a:r>
              <a:rPr lang="en-US" sz="1000" dirty="0">
                <a:solidFill>
                  <a:srgbClr val="4C4C4D"/>
                </a:solidFill>
                <a:latin typeface="Crimson Pro SemiBold" pitchFamily="34" charset="0"/>
                <a:ea typeface="Crimson Pro SemiBold" pitchFamily="34" charset="-122"/>
                <a:cs typeface="Crimson Pro SemiBold" pitchFamily="34" charset="-120"/>
              </a:rPr>
              <a:t>Vorgänger-Verspätung</a:t>
            </a:r>
            <a:endParaRPr lang="en-US" sz="1000" dirty="0"/>
          </a:p>
        </p:txBody>
      </p:sp>
      <p:sp>
        <p:nvSpPr>
          <p:cNvPr id="18" name="Text 15"/>
          <p:cNvSpPr/>
          <p:nvPr/>
        </p:nvSpPr>
        <p:spPr>
          <a:xfrm>
            <a:off x="2782517" y="4047855"/>
            <a:ext cx="1062768" cy="208179"/>
          </a:xfrm>
          <a:prstGeom prst="rect">
            <a:avLst/>
          </a:prstGeom>
          <a:noFill/>
          <a:ln/>
        </p:spPr>
        <p:txBody>
          <a:bodyPr wrap="square" lIns="0" tIns="0" rIns="0" bIns="0" rtlCol="0" anchor="t">
            <a:normAutofit/>
          </a:bodyPr>
          <a:lstStyle/>
          <a:p>
            <a:pPr algn="ctr" indent="0" marL="0">
              <a:lnSpc>
                <a:spcPct val="83000"/>
              </a:lnSpc>
              <a:buNone/>
            </a:pPr>
            <a:r>
              <a:rPr lang="en-US" sz="800" dirty="0">
                <a:solidFill>
                  <a:srgbClr val="4C4C4D"/>
                </a:solidFill>
                <a:latin typeface="Heebo" pitchFamily="34" charset="0"/>
                <a:ea typeface="Heebo" pitchFamily="34" charset="-122"/>
                <a:cs typeface="Heebo" pitchFamily="34" charset="-120"/>
              </a:rPr>
              <a:t>Realzeit-Delay des vorherigen Zuges</a:t>
            </a:r>
            <a:endParaRPr lang="en-US" sz="800" dirty="0"/>
          </a:p>
        </p:txBody>
      </p:sp>
      <p:sp>
        <p:nvSpPr>
          <p:cNvPr id="19" name="Text 16"/>
          <p:cNvSpPr/>
          <p:nvPr/>
        </p:nvSpPr>
        <p:spPr>
          <a:xfrm>
            <a:off x="2782517" y="2182407"/>
            <a:ext cx="1062768" cy="163349"/>
          </a:xfrm>
          <a:prstGeom prst="rect">
            <a:avLst/>
          </a:prstGeom>
          <a:noFill/>
          <a:ln/>
        </p:spPr>
        <p:txBody>
          <a:bodyPr wrap="none" lIns="0" tIns="0" rIns="0" bIns="0" rtlCol="0" anchor="t"/>
          <a:lstStyle/>
          <a:p>
            <a:pPr algn="ctr" indent="0" marL="0">
              <a:lnSpc>
                <a:spcPct val="104000"/>
              </a:lnSpc>
              <a:buNone/>
            </a:pPr>
            <a:r>
              <a:rPr lang="en-US" sz="1000" dirty="0">
                <a:solidFill>
                  <a:srgbClr val="4C4C4D"/>
                </a:solidFill>
                <a:latin typeface="Crimson Pro SemiBold" pitchFamily="34" charset="0"/>
                <a:ea typeface="Crimson Pro SemiBold" pitchFamily="34" charset="-122"/>
                <a:cs typeface="Crimson Pro SemiBold" pitchFamily="34" charset="-120"/>
              </a:rPr>
              <a:t>Delay Forecast</a:t>
            </a:r>
            <a:endParaRPr lang="en-US" sz="1000" dirty="0"/>
          </a:p>
        </p:txBody>
      </p:sp>
      <p:sp>
        <p:nvSpPr>
          <p:cNvPr id="20" name="Text 17"/>
          <p:cNvSpPr/>
          <p:nvPr/>
        </p:nvSpPr>
        <p:spPr>
          <a:xfrm>
            <a:off x="2782517" y="2392220"/>
            <a:ext cx="1062768" cy="208179"/>
          </a:xfrm>
          <a:prstGeom prst="rect">
            <a:avLst/>
          </a:prstGeom>
          <a:noFill/>
          <a:ln/>
        </p:spPr>
        <p:txBody>
          <a:bodyPr wrap="square" lIns="0" tIns="0" rIns="0" bIns="0" rtlCol="0" anchor="t">
            <a:normAutofit/>
          </a:bodyPr>
          <a:lstStyle/>
          <a:p>
            <a:pPr algn="ctr" indent="0" marL="0">
              <a:lnSpc>
                <a:spcPct val="83000"/>
              </a:lnSpc>
              <a:buNone/>
            </a:pPr>
            <a:r>
              <a:rPr lang="en-US" sz="800" dirty="0">
                <a:solidFill>
                  <a:srgbClr val="4C4C4D"/>
                </a:solidFill>
                <a:latin typeface="Heebo" pitchFamily="34" charset="0"/>
                <a:ea typeface="Heebo" pitchFamily="34" charset="-122"/>
                <a:cs typeface="Heebo" pitchFamily="34" charset="-120"/>
              </a:rPr>
              <a:t>MAE 18.6s – frühzeitige Warnung</a:t>
            </a:r>
            <a:endParaRPr lang="en-US" sz="800" dirty="0"/>
          </a:p>
        </p:txBody>
      </p:sp>
      <p:sp>
        <p:nvSpPr>
          <p:cNvPr id="21" name="Text 18"/>
          <p:cNvSpPr/>
          <p:nvPr/>
        </p:nvSpPr>
        <p:spPr>
          <a:xfrm>
            <a:off x="5279944" y="2100733"/>
            <a:ext cx="1062768" cy="326698"/>
          </a:xfrm>
          <a:prstGeom prst="rect">
            <a:avLst/>
          </a:prstGeom>
          <a:noFill/>
          <a:ln/>
        </p:spPr>
        <p:txBody>
          <a:bodyPr wrap="square" lIns="0" tIns="0" rIns="0" bIns="0" rtlCol="0" anchor="t">
            <a:normAutofit/>
          </a:bodyPr>
          <a:lstStyle/>
          <a:p>
            <a:pPr algn="ctr" indent="0" marL="0">
              <a:lnSpc>
                <a:spcPct val="104000"/>
              </a:lnSpc>
              <a:buNone/>
            </a:pPr>
            <a:r>
              <a:rPr lang="en-US" sz="1000" dirty="0">
                <a:solidFill>
                  <a:srgbClr val="4C4C4D"/>
                </a:solidFill>
                <a:latin typeface="Crimson Pro SemiBold" pitchFamily="34" charset="0"/>
                <a:ea typeface="Crimson Pro SemiBold" pitchFamily="34" charset="-122"/>
                <a:cs typeface="Crimson Pro SemiBold" pitchFamily="34" charset="-120"/>
              </a:rPr>
              <a:t>Zeit- &amp; Fahrplandaten</a:t>
            </a:r>
            <a:endParaRPr lang="en-US" sz="1000" dirty="0"/>
          </a:p>
        </p:txBody>
      </p:sp>
      <p:sp>
        <p:nvSpPr>
          <p:cNvPr id="22" name="Text 19"/>
          <p:cNvSpPr/>
          <p:nvPr/>
        </p:nvSpPr>
        <p:spPr>
          <a:xfrm>
            <a:off x="5279944" y="2473895"/>
            <a:ext cx="1062768" cy="208179"/>
          </a:xfrm>
          <a:prstGeom prst="rect">
            <a:avLst/>
          </a:prstGeom>
          <a:noFill/>
          <a:ln/>
        </p:spPr>
        <p:txBody>
          <a:bodyPr wrap="square" lIns="0" tIns="0" rIns="0" bIns="0" rtlCol="0" anchor="t">
            <a:normAutofit/>
          </a:bodyPr>
          <a:lstStyle/>
          <a:p>
            <a:pPr algn="ctr" indent="0" marL="0">
              <a:lnSpc>
                <a:spcPct val="83000"/>
              </a:lnSpc>
              <a:buNone/>
            </a:pPr>
            <a:r>
              <a:rPr lang="en-US" sz="800" dirty="0">
                <a:solidFill>
                  <a:srgbClr val="4C4C4D"/>
                </a:solidFill>
                <a:latin typeface="Heebo" pitchFamily="34" charset="0"/>
                <a:ea typeface="Heebo" pitchFamily="34" charset="-122"/>
                <a:cs typeface="Heebo" pitchFamily="34" charset="-120"/>
              </a:rPr>
              <a:t>Fahrzeiten, Abfahrts- und Ankunftszeiten</a:t>
            </a:r>
            <a:endParaRPr lang="en-US" sz="800" dirty="0"/>
          </a:p>
        </p:txBody>
      </p:sp>
      <p:sp>
        <p:nvSpPr>
          <p:cNvPr id="23" name="Text 20"/>
          <p:cNvSpPr/>
          <p:nvPr/>
        </p:nvSpPr>
        <p:spPr>
          <a:xfrm>
            <a:off x="1667991" y="4557266"/>
            <a:ext cx="5808018" cy="187821"/>
          </a:xfrm>
          <a:prstGeom prst="rect">
            <a:avLst/>
          </a:prstGeom>
          <a:noFill/>
          <a:ln/>
        </p:spPr>
        <p:txBody>
          <a:bodyPr wrap="square" lIns="0" tIns="0" rIns="0" bIns="0" rtlCol="0" anchor="t">
            <a:normAutofit/>
          </a:bodyPr>
          <a:lstStyle/>
          <a:p>
            <a:pPr algn="l" indent="0" marL="0">
              <a:lnSpc>
                <a:spcPct val="106000"/>
              </a:lnSpc>
              <a:buNone/>
            </a:pPr>
            <a:r>
              <a:rPr lang="en-US" sz="550" dirty="0">
                <a:solidFill>
                  <a:srgbClr val="4C4C4D"/>
                </a:solidFill>
                <a:latin typeface="Heebo" pitchFamily="34" charset="0"/>
                <a:ea typeface="Heebo" pitchFamily="34" charset="-122"/>
                <a:cs typeface="Heebo" pitchFamily="34" charset="-120"/>
              </a:rPr>
              <a:t>Das Modell ist kein Selbstzweck – es ist das operative Bindeglied zwischen Diagnose und Steuerung. Mit einer Vorhersagegenauigkeit von 18.6 Sekunden MAE liefert es der Leitstelle einen zeitlichen Vorlauf, der für echte Interventionen ausreicht.</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41114"/>
            <a:ext cx="3692128" cy="351309"/>
          </a:xfrm>
          <a:prstGeom prst="rect">
            <a:avLst/>
          </a:prstGeom>
          <a:noFill/>
          <a:ln/>
        </p:spPr>
        <p:txBody>
          <a:bodyPr wrap="none" lIns="0" tIns="0" rIns="0" bIns="0" rtlCol="0" anchor="t"/>
          <a:lstStyle/>
          <a:p>
            <a:pPr algn="l" indent="0" marL="0">
              <a:lnSpc>
                <a:spcPct val="104000"/>
              </a:lnSpc>
              <a:buNone/>
            </a:pPr>
            <a:r>
              <a:rPr lang="en-US" sz="2200" dirty="0">
                <a:solidFill>
                  <a:srgbClr val="152D47"/>
                </a:solidFill>
                <a:latin typeface="Crimson Pro SemiBold" pitchFamily="34" charset="0"/>
                <a:ea typeface="Crimson Pro SemiBold" pitchFamily="34" charset="-122"/>
                <a:cs typeface="Crimson Pro SemiBold" pitchFamily="34" charset="-120"/>
              </a:rPr>
              <a:t>5. Handlungsempfehlungen</a:t>
            </a:r>
            <a:endParaRPr lang="en-US" sz="2200" dirty="0"/>
          </a:p>
        </p:txBody>
      </p:sp>
      <p:sp>
        <p:nvSpPr>
          <p:cNvPr id="3" name="Text 1"/>
          <p:cNvSpPr/>
          <p:nvPr/>
        </p:nvSpPr>
        <p:spPr>
          <a:xfrm>
            <a:off x="496119" y="896169"/>
            <a:ext cx="8151763"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4C4C4D"/>
                </a:solidFill>
                <a:latin typeface="Heebo" pitchFamily="34" charset="0"/>
                <a:ea typeface="Heebo" pitchFamily="34" charset="-122"/>
                <a:cs typeface="Heebo" pitchFamily="34" charset="-120"/>
              </a:rPr>
              <a:t>Auf Basis der Analyse und des prädiktiven Modells ergeben sich vier priorisierte Handlungsempfehlungen. Sie adressieren unterschiedliche Ebenen – vom Fahrplan-Design über die Betriebssteuerung bis zur langfristigen Kapazitätsplanung – und sind so konzipiert, dass sie schrittweise implementiert werden können.</a:t>
            </a:r>
            <a:endParaRPr lang="en-US" sz="8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353666"/>
            <a:ext cx="4024908" cy="1674019"/>
          </a:xfrm>
          <a:prstGeom prst="rect">
            <a:avLst/>
          </a:prstGeom>
        </p:spPr>
      </p:pic>
      <p:sp>
        <p:nvSpPr>
          <p:cNvPr id="5" name="Text 2"/>
          <p:cNvSpPr/>
          <p:nvPr/>
        </p:nvSpPr>
        <p:spPr>
          <a:xfrm>
            <a:off x="2424261" y="1431206"/>
            <a:ext cx="168622" cy="210741"/>
          </a:xfrm>
          <a:prstGeom prst="rect">
            <a:avLst/>
          </a:prstGeom>
          <a:noFill/>
          <a:ln/>
        </p:spPr>
        <p:txBody>
          <a:bodyPr wrap="none" lIns="0" tIns="0" rIns="0" bIns="0" rtlCol="0" anchor="ctr"/>
          <a:lstStyle/>
          <a:p>
            <a:pPr algn="ctr" indent="0" marL="0">
              <a:lnSpc>
                <a:spcPct val="100000"/>
              </a:lnSpc>
              <a:buNone/>
            </a:pPr>
            <a:r>
              <a:rPr lang="en-US" sz="1300" dirty="0">
                <a:solidFill>
                  <a:srgbClr val="4C4C4D"/>
                </a:solidFill>
                <a:latin typeface="Crimson Pro SemiBold" pitchFamily="34" charset="0"/>
                <a:ea typeface="Crimson Pro SemiBold" pitchFamily="34" charset="-122"/>
                <a:cs typeface="Crimson Pro SemiBold" pitchFamily="34" charset="-120"/>
              </a:rPr>
              <a:t>1</a:t>
            </a:r>
            <a:endParaRPr lang="en-US" sz="1300" dirty="0"/>
          </a:p>
        </p:txBody>
      </p:sp>
      <p:sp>
        <p:nvSpPr>
          <p:cNvPr id="6" name="Text 3"/>
          <p:cNvSpPr/>
          <p:nvPr/>
        </p:nvSpPr>
        <p:spPr>
          <a:xfrm>
            <a:off x="622771" y="1807071"/>
            <a:ext cx="2069976" cy="175617"/>
          </a:xfrm>
          <a:prstGeom prst="rect">
            <a:avLst/>
          </a:prstGeom>
          <a:noFill/>
          <a:ln/>
        </p:spPr>
        <p:txBody>
          <a:bodyPr wrap="none" lIns="0" tIns="0" rIns="0" bIns="0" rtlCol="0" anchor="t"/>
          <a:lstStyle/>
          <a:p>
            <a:pPr algn="l" indent="0" marL="0">
              <a:lnSpc>
                <a:spcPct val="104000"/>
              </a:lnSpc>
              <a:buNone/>
            </a:pPr>
            <a:r>
              <a:rPr lang="en-US" sz="1100" dirty="0">
                <a:solidFill>
                  <a:srgbClr val="4C4C4D"/>
                </a:solidFill>
                <a:latin typeface="Crimson Pro SemiBold" pitchFamily="34" charset="0"/>
                <a:ea typeface="Crimson Pro SemiBold" pitchFamily="34" charset="-122"/>
                <a:cs typeface="Crimson Pro SemiBold" pitchFamily="34" charset="-120"/>
              </a:rPr>
              <a:t>Fahrplan-Design: Puffer auf Linie 11</a:t>
            </a:r>
            <a:endParaRPr lang="en-US" sz="1100" dirty="0"/>
          </a:p>
        </p:txBody>
      </p:sp>
      <p:sp>
        <p:nvSpPr>
          <p:cNvPr id="7" name="Text 4"/>
          <p:cNvSpPr/>
          <p:nvPr/>
        </p:nvSpPr>
        <p:spPr>
          <a:xfrm>
            <a:off x="622771" y="2043782"/>
            <a:ext cx="3771602" cy="85725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4C4C4D"/>
                </a:solidFill>
                <a:latin typeface="Heebo" pitchFamily="34" charset="0"/>
                <a:ea typeface="Heebo" pitchFamily="34" charset="-122"/>
                <a:cs typeface="Heebo" pitchFamily="34" charset="-120"/>
              </a:rPr>
              <a:t>Einführung gezielter </a:t>
            </a:r>
            <a:pPr algn="l" indent="0" marL="0">
              <a:lnSpc>
                <a:spcPct val="127000"/>
              </a:lnSpc>
              <a:buNone/>
            </a:pPr>
            <a:r>
              <a:rPr lang="en-US" sz="850" b="1" dirty="0">
                <a:solidFill>
                  <a:srgbClr val="4C4C4D"/>
                </a:solidFill>
                <a:latin typeface="Heebo" pitchFamily="34" charset="0"/>
                <a:ea typeface="Heebo" pitchFamily="34" charset="-122"/>
                <a:cs typeface="Heebo" pitchFamily="34" charset="-120"/>
              </a:rPr>
              <a:t>Standzeit-Puffer</a:t>
            </a:r>
            <a:pPr algn="l" indent="0" marL="0">
              <a:lnSpc>
                <a:spcPct val="127000"/>
              </a:lnSpc>
              <a:buNone/>
            </a:pPr>
            <a:r>
              <a:rPr lang="en-US" sz="850" dirty="0">
                <a:solidFill>
                  <a:srgbClr val="4C4C4D"/>
                </a:solidFill>
                <a:latin typeface="Heebo" pitchFamily="34" charset="0"/>
                <a:ea typeface="Heebo" pitchFamily="34" charset="-122"/>
                <a:cs typeface="Heebo" pitchFamily="34" charset="-120"/>
              </a:rPr>
              <a:t> an ausgewählten Haltestellen der Linie 11 – der Linie mit dem höchsten systematischen Verspätungsrisiko. Die Puffer sollten an den identifizierten Hotspots (Enzenbühl, Balgrist) sowie an Umsteigeknoten platziert werden. Priorität: </a:t>
            </a:r>
            <a:pPr algn="l" indent="0" marL="0">
              <a:lnSpc>
                <a:spcPct val="127000"/>
              </a:lnSpc>
              <a:buNone/>
            </a:pPr>
            <a:r>
              <a:rPr lang="en-US" sz="850" b="1" dirty="0">
                <a:solidFill>
                  <a:srgbClr val="4C4C4D"/>
                </a:solidFill>
                <a:latin typeface="Heebo" pitchFamily="34" charset="0"/>
                <a:ea typeface="Heebo" pitchFamily="34" charset="-122"/>
                <a:cs typeface="Heebo" pitchFamily="34" charset="-120"/>
              </a:rPr>
              <a:t>kurzfristig umsetzbar</a:t>
            </a:r>
            <a:pPr algn="l" indent="0" marL="0">
              <a:lnSpc>
                <a:spcPct val="127000"/>
              </a:lnSpc>
              <a:buNone/>
            </a:pPr>
            <a:r>
              <a:rPr lang="en-US" sz="850" dirty="0">
                <a:solidFill>
                  <a:srgbClr val="4C4C4D"/>
                </a:solidFill>
                <a:latin typeface="Heebo" pitchFamily="34" charset="0"/>
                <a:ea typeface="Heebo" pitchFamily="34" charset="-122"/>
                <a:cs typeface="Heebo" pitchFamily="34" charset="-120"/>
              </a:rPr>
              <a:t> im nächsten Fahrplanwechsel.</a:t>
            </a:r>
            <a:endParaRPr lang="en-US" sz="8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22899" y="1353666"/>
            <a:ext cx="4024982" cy="1674019"/>
          </a:xfrm>
          <a:prstGeom prst="rect">
            <a:avLst/>
          </a:prstGeom>
        </p:spPr>
      </p:pic>
      <p:sp>
        <p:nvSpPr>
          <p:cNvPr id="9" name="Text 5"/>
          <p:cNvSpPr/>
          <p:nvPr/>
        </p:nvSpPr>
        <p:spPr>
          <a:xfrm>
            <a:off x="6551042" y="1431206"/>
            <a:ext cx="168622" cy="210741"/>
          </a:xfrm>
          <a:prstGeom prst="rect">
            <a:avLst/>
          </a:prstGeom>
          <a:noFill/>
          <a:ln/>
        </p:spPr>
        <p:txBody>
          <a:bodyPr wrap="none" lIns="0" tIns="0" rIns="0" bIns="0" rtlCol="0" anchor="ctr"/>
          <a:lstStyle/>
          <a:p>
            <a:pPr algn="ctr" indent="0" marL="0">
              <a:lnSpc>
                <a:spcPct val="100000"/>
              </a:lnSpc>
              <a:buNone/>
            </a:pPr>
            <a:r>
              <a:rPr lang="en-US" sz="1300" dirty="0">
                <a:solidFill>
                  <a:srgbClr val="4C4C4D"/>
                </a:solidFill>
                <a:latin typeface="Crimson Pro SemiBold" pitchFamily="34" charset="0"/>
                <a:ea typeface="Crimson Pro SemiBold" pitchFamily="34" charset="-122"/>
                <a:cs typeface="Crimson Pro SemiBold" pitchFamily="34" charset="-120"/>
              </a:rPr>
              <a:t>2</a:t>
            </a:r>
            <a:endParaRPr lang="en-US" sz="1300" dirty="0"/>
          </a:p>
        </p:txBody>
      </p:sp>
      <p:sp>
        <p:nvSpPr>
          <p:cNvPr id="10" name="Text 6"/>
          <p:cNvSpPr/>
          <p:nvPr/>
        </p:nvSpPr>
        <p:spPr>
          <a:xfrm>
            <a:off x="4749552" y="1807071"/>
            <a:ext cx="2927747" cy="175617"/>
          </a:xfrm>
          <a:prstGeom prst="rect">
            <a:avLst/>
          </a:prstGeom>
          <a:noFill/>
          <a:ln/>
        </p:spPr>
        <p:txBody>
          <a:bodyPr wrap="none" lIns="0" tIns="0" rIns="0" bIns="0" rtlCol="0" anchor="t"/>
          <a:lstStyle/>
          <a:p>
            <a:pPr algn="l" indent="0" marL="0">
              <a:lnSpc>
                <a:spcPct val="104000"/>
              </a:lnSpc>
              <a:buNone/>
            </a:pPr>
            <a:r>
              <a:rPr lang="en-US" sz="1100" dirty="0">
                <a:solidFill>
                  <a:srgbClr val="4C4C4D"/>
                </a:solidFill>
                <a:latin typeface="Crimson Pro SemiBold" pitchFamily="34" charset="0"/>
                <a:ea typeface="Crimson Pro SemiBold" pitchFamily="34" charset="-122"/>
                <a:cs typeface="Crimson Pro SemiBold" pitchFamily="34" charset="-120"/>
              </a:rPr>
              <a:t>Betriebssteuerung: Modell in Leitstelle integrieren</a:t>
            </a:r>
            <a:endParaRPr lang="en-US" sz="1100" dirty="0"/>
          </a:p>
        </p:txBody>
      </p:sp>
      <p:sp>
        <p:nvSpPr>
          <p:cNvPr id="11" name="Text 7"/>
          <p:cNvSpPr/>
          <p:nvPr/>
        </p:nvSpPr>
        <p:spPr>
          <a:xfrm>
            <a:off x="4749552" y="2043782"/>
            <a:ext cx="3771677" cy="85725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4C4C4D"/>
                </a:solidFill>
                <a:latin typeface="Heebo" pitchFamily="34" charset="0"/>
                <a:ea typeface="Heebo" pitchFamily="34" charset="-122"/>
                <a:cs typeface="Heebo" pitchFamily="34" charset="-120"/>
              </a:rPr>
              <a:t>Das LightGBM-Frühwarnsystem soll als </a:t>
            </a:r>
            <a:pPr algn="l" indent="0" marL="0">
              <a:lnSpc>
                <a:spcPct val="127000"/>
              </a:lnSpc>
              <a:buNone/>
            </a:pPr>
            <a:r>
              <a:rPr lang="en-US" sz="850" b="1" dirty="0">
                <a:solidFill>
                  <a:srgbClr val="4C4C4D"/>
                </a:solidFill>
                <a:latin typeface="Heebo" pitchFamily="34" charset="0"/>
                <a:ea typeface="Heebo" pitchFamily="34" charset="-122"/>
                <a:cs typeface="Heebo" pitchFamily="34" charset="-120"/>
              </a:rPr>
              <a:t>Echtzeit-Dashboard</a:t>
            </a:r>
            <a:pPr algn="l" indent="0" marL="0">
              <a:lnSpc>
                <a:spcPct val="127000"/>
              </a:lnSpc>
              <a:buNone/>
            </a:pPr>
            <a:r>
              <a:rPr lang="en-US" sz="850" dirty="0">
                <a:solidFill>
                  <a:srgbClr val="4C4C4D"/>
                </a:solidFill>
                <a:latin typeface="Heebo" pitchFamily="34" charset="0"/>
                <a:ea typeface="Heebo" pitchFamily="34" charset="-122"/>
                <a:cs typeface="Heebo" pitchFamily="34" charset="-120"/>
              </a:rPr>
              <a:t> in die bestehende Leitstellen-Infrastruktur integriert werden. Ziel ist eine visuelle Ampel-Logik (Grün/Gelb/Rot), die Disponenten bei der Priorisierung von Interventionen unterstützt. Dies erfordert eine API-Schnittstelle zwischen dem Modell und dem bestehenden Leitsystem.</a:t>
            </a:r>
            <a:endParaRPr lang="en-US" sz="8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129558"/>
            <a:ext cx="4024908" cy="1674019"/>
          </a:xfrm>
          <a:prstGeom prst="rect">
            <a:avLst/>
          </a:prstGeom>
        </p:spPr>
      </p:pic>
      <p:sp>
        <p:nvSpPr>
          <p:cNvPr id="13" name="Text 8"/>
          <p:cNvSpPr/>
          <p:nvPr/>
        </p:nvSpPr>
        <p:spPr>
          <a:xfrm>
            <a:off x="2424261" y="3207097"/>
            <a:ext cx="168622" cy="210741"/>
          </a:xfrm>
          <a:prstGeom prst="rect">
            <a:avLst/>
          </a:prstGeom>
          <a:noFill/>
          <a:ln/>
        </p:spPr>
        <p:txBody>
          <a:bodyPr wrap="none" lIns="0" tIns="0" rIns="0" bIns="0" rtlCol="0" anchor="ctr"/>
          <a:lstStyle/>
          <a:p>
            <a:pPr algn="ctr" indent="0" marL="0">
              <a:lnSpc>
                <a:spcPct val="100000"/>
              </a:lnSpc>
              <a:buNone/>
            </a:pPr>
            <a:r>
              <a:rPr lang="en-US" sz="1300" dirty="0">
                <a:solidFill>
                  <a:srgbClr val="4C4C4D"/>
                </a:solidFill>
                <a:latin typeface="Crimson Pro SemiBold" pitchFamily="34" charset="0"/>
                <a:ea typeface="Crimson Pro SemiBold" pitchFamily="34" charset="-122"/>
                <a:cs typeface="Crimson Pro SemiBold" pitchFamily="34" charset="-120"/>
              </a:rPr>
              <a:t>3</a:t>
            </a:r>
            <a:endParaRPr lang="en-US" sz="1300" dirty="0"/>
          </a:p>
        </p:txBody>
      </p:sp>
      <p:sp>
        <p:nvSpPr>
          <p:cNvPr id="14" name="Text 9"/>
          <p:cNvSpPr/>
          <p:nvPr/>
        </p:nvSpPr>
        <p:spPr>
          <a:xfrm>
            <a:off x="622771" y="3582963"/>
            <a:ext cx="3184996" cy="175617"/>
          </a:xfrm>
          <a:prstGeom prst="rect">
            <a:avLst/>
          </a:prstGeom>
          <a:noFill/>
          <a:ln/>
        </p:spPr>
        <p:txBody>
          <a:bodyPr wrap="none" lIns="0" tIns="0" rIns="0" bIns="0" rtlCol="0" anchor="t"/>
          <a:lstStyle/>
          <a:p>
            <a:pPr algn="l" indent="0" marL="0">
              <a:lnSpc>
                <a:spcPct val="104000"/>
              </a:lnSpc>
              <a:buNone/>
            </a:pPr>
            <a:r>
              <a:rPr lang="en-US" sz="1100" dirty="0">
                <a:solidFill>
                  <a:srgbClr val="4C4C4D"/>
                </a:solidFill>
                <a:latin typeface="Crimson Pro SemiBold" pitchFamily="34" charset="0"/>
                <a:ea typeface="Crimson Pro SemiBold" pitchFamily="34" charset="-122"/>
                <a:cs typeface="Crimson Pro SemiBold" pitchFamily="34" charset="-120"/>
              </a:rPr>
              <a:t>Kapazitätsplanung: Taktverdichtung 20:00–22:00 Uhr</a:t>
            </a:r>
            <a:endParaRPr lang="en-US" sz="1100" dirty="0"/>
          </a:p>
        </p:txBody>
      </p:sp>
      <p:sp>
        <p:nvSpPr>
          <p:cNvPr id="15" name="Text 10"/>
          <p:cNvSpPr/>
          <p:nvPr/>
        </p:nvSpPr>
        <p:spPr>
          <a:xfrm>
            <a:off x="622771" y="3819674"/>
            <a:ext cx="3771602" cy="85725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4C4C4D"/>
                </a:solidFill>
                <a:latin typeface="Heebo" pitchFamily="34" charset="0"/>
                <a:ea typeface="Heebo" pitchFamily="34" charset="-122"/>
                <a:cs typeface="Heebo" pitchFamily="34" charset="-120"/>
              </a:rPr>
              <a:t>Aufgrund der identifizierten Abend-Peak-Problematik (Veranstaltungs-Abreisewellen) wird eine </a:t>
            </a:r>
            <a:pPr algn="l" indent="0" marL="0">
              <a:lnSpc>
                <a:spcPct val="127000"/>
              </a:lnSpc>
              <a:buNone/>
            </a:pPr>
            <a:r>
              <a:rPr lang="en-US" sz="850" b="1" dirty="0">
                <a:solidFill>
                  <a:srgbClr val="4C4C4D"/>
                </a:solidFill>
                <a:latin typeface="Heebo" pitchFamily="34" charset="0"/>
                <a:ea typeface="Heebo" pitchFamily="34" charset="-122"/>
                <a:cs typeface="Heebo" pitchFamily="34" charset="-120"/>
              </a:rPr>
              <a:t>Takterhöhung auf Linie 11 und Linie 8</a:t>
            </a:r>
            <a:pPr algn="l" indent="0" marL="0">
              <a:lnSpc>
                <a:spcPct val="127000"/>
              </a:lnSpc>
              <a:buNone/>
            </a:pPr>
            <a:r>
              <a:rPr lang="en-US" sz="850" dirty="0">
                <a:solidFill>
                  <a:srgbClr val="4C4C4D"/>
                </a:solidFill>
                <a:latin typeface="Heebo" pitchFamily="34" charset="0"/>
                <a:ea typeface="Heebo" pitchFamily="34" charset="-122"/>
                <a:cs typeface="Heebo" pitchFamily="34" charset="-120"/>
              </a:rPr>
              <a:t> im Zeitfenster 20:00 bis 22:00 Uhr empfohlen. Dies reduziert die Fahrgastdichte pro Fahrzeug und verkürzt die Haltezeiten – zwei direkte Hebel zur Verspätungsreduktion.</a:t>
            </a:r>
            <a:endParaRPr lang="en-US" sz="85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22899" y="3129558"/>
            <a:ext cx="4024982" cy="1674019"/>
          </a:xfrm>
          <a:prstGeom prst="rect">
            <a:avLst/>
          </a:prstGeom>
        </p:spPr>
      </p:pic>
      <p:sp>
        <p:nvSpPr>
          <p:cNvPr id="17" name="Text 11"/>
          <p:cNvSpPr/>
          <p:nvPr/>
        </p:nvSpPr>
        <p:spPr>
          <a:xfrm>
            <a:off x="6551042" y="3207097"/>
            <a:ext cx="168622" cy="210741"/>
          </a:xfrm>
          <a:prstGeom prst="rect">
            <a:avLst/>
          </a:prstGeom>
          <a:noFill/>
          <a:ln/>
        </p:spPr>
        <p:txBody>
          <a:bodyPr wrap="none" lIns="0" tIns="0" rIns="0" bIns="0" rtlCol="0" anchor="ctr"/>
          <a:lstStyle/>
          <a:p>
            <a:pPr algn="ctr" indent="0" marL="0">
              <a:lnSpc>
                <a:spcPct val="100000"/>
              </a:lnSpc>
              <a:buNone/>
            </a:pPr>
            <a:r>
              <a:rPr lang="en-US" sz="1300" dirty="0">
                <a:solidFill>
                  <a:srgbClr val="4C4C4D"/>
                </a:solidFill>
                <a:latin typeface="Crimson Pro SemiBold" pitchFamily="34" charset="0"/>
                <a:ea typeface="Crimson Pro SemiBold" pitchFamily="34" charset="-122"/>
                <a:cs typeface="Crimson Pro SemiBold" pitchFamily="34" charset="-120"/>
              </a:rPr>
              <a:t>4</a:t>
            </a:r>
            <a:endParaRPr lang="en-US" sz="1300" dirty="0"/>
          </a:p>
        </p:txBody>
      </p:sp>
      <p:sp>
        <p:nvSpPr>
          <p:cNvPr id="18" name="Text 12"/>
          <p:cNvSpPr/>
          <p:nvPr/>
        </p:nvSpPr>
        <p:spPr>
          <a:xfrm>
            <a:off x="4749552" y="3582963"/>
            <a:ext cx="2260253" cy="175617"/>
          </a:xfrm>
          <a:prstGeom prst="rect">
            <a:avLst/>
          </a:prstGeom>
          <a:noFill/>
          <a:ln/>
        </p:spPr>
        <p:txBody>
          <a:bodyPr wrap="none" lIns="0" tIns="0" rIns="0" bIns="0" rtlCol="0" anchor="t"/>
          <a:lstStyle/>
          <a:p>
            <a:pPr algn="l" indent="0" marL="0">
              <a:lnSpc>
                <a:spcPct val="104000"/>
              </a:lnSpc>
              <a:buNone/>
            </a:pPr>
            <a:r>
              <a:rPr lang="en-US" sz="1100" dirty="0">
                <a:solidFill>
                  <a:srgbClr val="4C4C4D"/>
                </a:solidFill>
                <a:latin typeface="Crimson Pro SemiBold" pitchFamily="34" charset="0"/>
                <a:ea typeface="Crimson Pro SemiBold" pitchFamily="34" charset="-122"/>
                <a:cs typeface="Crimson Pro SemiBold" pitchFamily="34" charset="-120"/>
              </a:rPr>
              <a:t>Monitoring: Prioritätszonen etablieren</a:t>
            </a:r>
            <a:endParaRPr lang="en-US" sz="1100" dirty="0"/>
          </a:p>
        </p:txBody>
      </p:sp>
      <p:sp>
        <p:nvSpPr>
          <p:cNvPr id="19" name="Text 13"/>
          <p:cNvSpPr/>
          <p:nvPr/>
        </p:nvSpPr>
        <p:spPr>
          <a:xfrm>
            <a:off x="4749552" y="3819674"/>
            <a:ext cx="3771677" cy="85725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4C4C4D"/>
                </a:solidFill>
                <a:latin typeface="Heebo" pitchFamily="34" charset="0"/>
                <a:ea typeface="Heebo" pitchFamily="34" charset="-122"/>
                <a:cs typeface="Heebo" pitchFamily="34" charset="-120"/>
              </a:rPr>
              <a:t>Die </a:t>
            </a:r>
            <a:pPr algn="l" indent="0" marL="0">
              <a:lnSpc>
                <a:spcPct val="127000"/>
              </a:lnSpc>
              <a:buNone/>
            </a:pPr>
            <a:r>
              <a:rPr lang="en-US" sz="850" b="1" dirty="0">
                <a:solidFill>
                  <a:srgbClr val="4C4C4D"/>
                </a:solidFill>
                <a:latin typeface="Heebo" pitchFamily="34" charset="0"/>
                <a:ea typeface="Heebo" pitchFamily="34" charset="-122"/>
                <a:cs typeface="Heebo" pitchFamily="34" charset="-120"/>
              </a:rPr>
              <a:t>Stadtkreise 11 und 12</a:t>
            </a:r>
            <a:pPr algn="l" indent="0" marL="0">
              <a:lnSpc>
                <a:spcPct val="127000"/>
              </a:lnSpc>
              <a:buNone/>
            </a:pPr>
            <a:r>
              <a:rPr lang="en-US" sz="850" dirty="0">
                <a:solidFill>
                  <a:srgbClr val="4C4C4D"/>
                </a:solidFill>
                <a:latin typeface="Heebo" pitchFamily="34" charset="0"/>
                <a:ea typeface="Heebo" pitchFamily="34" charset="-122"/>
                <a:cs typeface="Heebo" pitchFamily="34" charset="-120"/>
              </a:rPr>
              <a:t> (Zürichberg-Region, inkl. Enzenbühl und Balgrist) sollen als strukturelle Prioritätszonen im operativen Monitoring verankert werden. Dies umfasst regelmässige Berichtslinien, definierte Schwellenwerte für Eskalation und eine dedizierte Verantwortlichkeit im Betriebsmanagement.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03759" y="389781"/>
            <a:ext cx="2783012" cy="290736"/>
          </a:xfrm>
          <a:prstGeom prst="rect">
            <a:avLst/>
          </a:prstGeom>
          <a:noFill/>
          <a:ln/>
        </p:spPr>
        <p:txBody>
          <a:bodyPr wrap="none" lIns="0" tIns="0" rIns="0" bIns="0" rtlCol="0" anchor="t"/>
          <a:lstStyle/>
          <a:p>
            <a:pPr algn="l" indent="0" marL="0">
              <a:lnSpc>
                <a:spcPct val="104000"/>
              </a:lnSpc>
              <a:buNone/>
            </a:pPr>
            <a:r>
              <a:rPr lang="en-US" sz="1800" dirty="0">
                <a:solidFill>
                  <a:srgbClr val="152D47"/>
                </a:solidFill>
                <a:latin typeface="Crimson Pro SemiBold" pitchFamily="34" charset="0"/>
                <a:ea typeface="Crimson Pro SemiBold" pitchFamily="34" charset="-122"/>
                <a:cs typeface="Crimson Pro SemiBold" pitchFamily="34" charset="-120"/>
              </a:rPr>
              <a:t>6. Resultat</a:t>
            </a:r>
            <a:endParaRPr lang="en-US" sz="1800" dirty="0"/>
          </a:p>
        </p:txBody>
      </p:sp>
      <p:sp>
        <p:nvSpPr>
          <p:cNvPr id="3" name="Shape 1"/>
          <p:cNvSpPr/>
          <p:nvPr/>
        </p:nvSpPr>
        <p:spPr>
          <a:xfrm>
            <a:off x="903759" y="820043"/>
            <a:ext cx="9525" cy="287015"/>
          </a:xfrm>
          <a:prstGeom prst="roundRect">
            <a:avLst>
              <a:gd name="adj" fmla="val 60000"/>
            </a:avLst>
          </a:prstGeom>
          <a:solidFill>
            <a:srgbClr val="2150FE"/>
          </a:solidFill>
          <a:ln/>
        </p:spPr>
      </p:sp>
      <p:sp>
        <p:nvSpPr>
          <p:cNvPr id="4" name="Text 2"/>
          <p:cNvSpPr/>
          <p:nvPr/>
        </p:nvSpPr>
        <p:spPr>
          <a:xfrm>
            <a:off x="1043285" y="898475"/>
            <a:ext cx="7654082" cy="130225"/>
          </a:xfrm>
          <a:prstGeom prst="rect">
            <a:avLst/>
          </a:prstGeom>
          <a:noFill/>
          <a:ln/>
        </p:spPr>
        <p:txBody>
          <a:bodyPr wrap="none" lIns="0" tIns="0" rIns="0" bIns="0" rtlCol="0" anchor="t"/>
          <a:lstStyle/>
          <a:p>
            <a:pPr algn="l" indent="0" marL="0">
              <a:lnSpc>
                <a:spcPct val="117000"/>
              </a:lnSpc>
              <a:buNone/>
            </a:pPr>
            <a:r>
              <a:rPr lang="en-US" sz="700" dirty="0">
                <a:solidFill>
                  <a:srgbClr val="4C4C4D"/>
                </a:solidFill>
                <a:latin typeface="Heebo" pitchFamily="34" charset="0"/>
                <a:ea typeface="Heebo" pitchFamily="34" charset="-122"/>
                <a:cs typeface="Heebo" pitchFamily="34" charset="-120"/>
              </a:rPr>
              <a:t>„Was vorhersagbar ist, ist steuerbar."</a:t>
            </a:r>
            <a:endParaRPr lang="en-US" sz="700" dirty="0"/>
          </a:p>
        </p:txBody>
      </p:sp>
      <p:sp>
        <p:nvSpPr>
          <p:cNvPr id="5" name="Text 3"/>
          <p:cNvSpPr/>
          <p:nvPr/>
        </p:nvSpPr>
        <p:spPr>
          <a:xfrm>
            <a:off x="903759" y="1185565"/>
            <a:ext cx="7336408" cy="390674"/>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4C4C4D"/>
                </a:solidFill>
                <a:latin typeface="Heebo" pitchFamily="34" charset="0"/>
                <a:ea typeface="Heebo" pitchFamily="34" charset="-122"/>
                <a:cs typeface="Heebo" pitchFamily="34" charset="-120"/>
              </a:rPr>
              <a:t>Diese Kernbotschaft fasst das Ergebnis des Projekts Zürich Tram Flow zusammen. Die Analyse hat gezeigt, dass Verspätungen im Zürcher Tramnetz keine zufälligen Betriebsereignisse sind – sie sind das Ergebnis eines vorhersagbaren, strukturellen Musters. Und was vorhersagbar ist, kann durch gezielte Massnahmen beeinflusst und gesteuert werden.</a:t>
            </a:r>
            <a:endParaRPr lang="en-US" sz="700" dirty="0"/>
          </a:p>
        </p:txBody>
      </p:sp>
      <p:sp>
        <p:nvSpPr>
          <p:cNvPr id="6" name="Shape 4"/>
          <p:cNvSpPr/>
          <p:nvPr/>
        </p:nvSpPr>
        <p:spPr>
          <a:xfrm>
            <a:off x="836786" y="1654671"/>
            <a:ext cx="3688631" cy="1191592"/>
          </a:xfrm>
          <a:prstGeom prst="roundRect">
            <a:avLst>
              <a:gd name="adj" fmla="val 1171"/>
            </a:avLst>
          </a:prstGeom>
          <a:solidFill>
            <a:srgbClr val="2150FE"/>
          </a:solidFill>
          <a:ln/>
        </p:spPr>
      </p:sp>
      <p:sp>
        <p:nvSpPr>
          <p:cNvPr id="7" name="Text 5"/>
          <p:cNvSpPr/>
          <p:nvPr/>
        </p:nvSpPr>
        <p:spPr>
          <a:xfrm>
            <a:off x="929804" y="1724397"/>
            <a:ext cx="1620069" cy="145331"/>
          </a:xfrm>
          <a:prstGeom prst="rect">
            <a:avLst/>
          </a:prstGeom>
          <a:noFill/>
          <a:ln/>
        </p:spPr>
        <p:txBody>
          <a:bodyPr wrap="none" lIns="0" tIns="0" rIns="0" bIns="0" rtlCol="0" anchor="t"/>
          <a:lstStyle/>
          <a:p>
            <a:pPr algn="l" indent="0" marL="0">
              <a:lnSpc>
                <a:spcPct val="104000"/>
              </a:lnSpc>
              <a:buNone/>
            </a:pPr>
            <a:r>
              <a:rPr lang="en-US" sz="900" dirty="0">
                <a:solidFill>
                  <a:srgbClr val="FFFFFF"/>
                </a:solidFill>
                <a:latin typeface="Crimson Pro SemiBold" pitchFamily="34" charset="0"/>
                <a:ea typeface="Crimson Pro SemiBold" pitchFamily="34" charset="-122"/>
                <a:cs typeface="Crimson Pro SemiBold" pitchFamily="34" charset="-120"/>
              </a:rPr>
              <a:t>Heute: 87% OTP</a:t>
            </a:r>
            <a:endParaRPr lang="en-US" sz="900" dirty="0"/>
          </a:p>
        </p:txBody>
      </p:sp>
      <p:sp>
        <p:nvSpPr>
          <p:cNvPr id="8" name="Text 6"/>
          <p:cNvSpPr/>
          <p:nvPr/>
        </p:nvSpPr>
        <p:spPr>
          <a:xfrm>
            <a:off x="929804" y="1939454"/>
            <a:ext cx="3502596" cy="390674"/>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FFFFFF"/>
                </a:solidFill>
                <a:latin typeface="Heebo" pitchFamily="34" charset="0"/>
                <a:ea typeface="Heebo" pitchFamily="34" charset="-122"/>
                <a:cs typeface="Heebo" pitchFamily="34" charset="-120"/>
              </a:rPr>
              <a:t>Die aktuelle On-Time Performance liegt bei 87.0% – ein Wert, der durch die identifizierten strukturellen Ursachen (fehlende Puffer, Kaskadeneffekt, Abend-Peak) erklärbar und damit adressierbar ist.</a:t>
            </a:r>
            <a:endParaRPr lang="en-US" sz="700" dirty="0"/>
          </a:p>
        </p:txBody>
      </p:sp>
      <p:sp>
        <p:nvSpPr>
          <p:cNvPr id="9" name="Text 7"/>
          <p:cNvSpPr/>
          <p:nvPr/>
        </p:nvSpPr>
        <p:spPr>
          <a:xfrm>
            <a:off x="4690170" y="1724397"/>
            <a:ext cx="1620069" cy="145331"/>
          </a:xfrm>
          <a:prstGeom prst="rect">
            <a:avLst/>
          </a:prstGeom>
          <a:noFill/>
          <a:ln/>
        </p:spPr>
        <p:txBody>
          <a:bodyPr wrap="none" lIns="0" tIns="0" rIns="0" bIns="0" rtlCol="0" anchor="t"/>
          <a:lstStyle/>
          <a:p>
            <a:pPr algn="l" indent="0" marL="0">
              <a:lnSpc>
                <a:spcPct val="104000"/>
              </a:lnSpc>
              <a:buNone/>
            </a:pPr>
            <a:r>
              <a:rPr lang="en-US" sz="900" dirty="0">
                <a:solidFill>
                  <a:srgbClr val="152D47"/>
                </a:solidFill>
                <a:latin typeface="Crimson Pro SemiBold" pitchFamily="34" charset="0"/>
                <a:ea typeface="Crimson Pro SemiBold" pitchFamily="34" charset="-122"/>
                <a:cs typeface="Crimson Pro SemiBold" pitchFamily="34" charset="-120"/>
              </a:rPr>
              <a:t>Ziel 2028: 95% OTP</a:t>
            </a:r>
            <a:endParaRPr lang="en-US" sz="900" dirty="0"/>
          </a:p>
        </p:txBody>
      </p:sp>
      <p:sp>
        <p:nvSpPr>
          <p:cNvPr id="10" name="Text 8"/>
          <p:cNvSpPr/>
          <p:nvPr/>
        </p:nvSpPr>
        <p:spPr>
          <a:xfrm>
            <a:off x="4690170" y="1939454"/>
            <a:ext cx="3554685" cy="844079"/>
          </a:xfrm>
          <a:prstGeom prst="rect">
            <a:avLst/>
          </a:prstGeom>
          <a:noFill/>
          <a:ln/>
        </p:spPr>
        <p:txBody>
          <a:bodyPr wrap="square" lIns="0" tIns="0" rIns="0" bIns="0" rtlCol="0" anchor="t">
            <a:normAutofit/>
          </a:bodyPr>
          <a:lstStyle/>
          <a:p>
            <a:pPr algn="l" indent="0" marL="0">
              <a:lnSpc>
                <a:spcPct val="117000"/>
              </a:lnSpc>
              <a:spcAft>
                <a:spcPts val="450"/>
              </a:spcAft>
              <a:buNone/>
            </a:pPr>
            <a:r>
              <a:rPr lang="en-US" sz="700" dirty="0">
                <a:solidFill>
                  <a:srgbClr val="4C4C4D"/>
                </a:solidFill>
                <a:latin typeface="Heebo" pitchFamily="34" charset="0"/>
                <a:ea typeface="Heebo" pitchFamily="34" charset="-122"/>
                <a:cs typeface="Heebo" pitchFamily="34" charset="-120"/>
              </a:rPr>
              <a:t>Das VBZ-Ziel von 95% On-Time Performance bis 2028 ist mit den vorgeschlagenen Massnahmen realistisch erreichbar. Die vier Handlungsempfehlungen adressieren die wesentlichen Hebel: Fahrplan-Design, Betriebssteuerung, Kapazität und Monitoring.</a:t>
            </a:r>
            <a:endParaRPr lang="en-US" sz="700" dirty="0"/>
          </a:p>
          <a:p>
            <a:pPr algn="l" indent="0" marL="0">
              <a:lnSpc>
                <a:spcPct val="117000"/>
              </a:lnSpc>
              <a:buNone/>
            </a:pPr>
            <a:r>
              <a:rPr lang="en-US" sz="700" dirty="0">
                <a:solidFill>
                  <a:srgbClr val="4C4C4D"/>
                </a:solidFill>
                <a:latin typeface="Heebo" pitchFamily="34" charset="0"/>
                <a:ea typeface="Heebo" pitchFamily="34" charset="-122"/>
                <a:cs typeface="Heebo" pitchFamily="34" charset="-120"/>
              </a:rPr>
              <a:t>Die Schliessung der 8-Prozentpunkt-Lücke ist kein Sprint, sondern ein strukturierter Transformationsprozess – mit klaren Meilensteinen und messbaren Zwischenergebnissen.</a:t>
            </a:r>
            <a:endParaRPr lang="en-US" sz="700" dirty="0"/>
          </a:p>
        </p:txBody>
      </p:sp>
      <p:sp>
        <p:nvSpPr>
          <p:cNvPr id="11" name="Text 9"/>
          <p:cNvSpPr/>
          <p:nvPr/>
        </p:nvSpPr>
        <p:spPr>
          <a:xfrm>
            <a:off x="1525191" y="3529310"/>
            <a:ext cx="1144265" cy="232618"/>
          </a:xfrm>
          <a:prstGeom prst="rect">
            <a:avLst/>
          </a:prstGeom>
          <a:noFill/>
          <a:ln/>
        </p:spPr>
        <p:txBody>
          <a:bodyPr wrap="none" lIns="0" tIns="0" rIns="0" bIns="0" rtlCol="0" anchor="t"/>
          <a:lstStyle/>
          <a:p>
            <a:pPr algn="ctr" indent="0" marL="0">
              <a:lnSpc>
                <a:spcPct val="83000"/>
              </a:lnSpc>
              <a:buNone/>
            </a:pPr>
            <a:r>
              <a:rPr lang="en-US" sz="1800" dirty="0">
                <a:solidFill>
                  <a:srgbClr val="4C4C4D"/>
                </a:solidFill>
                <a:latin typeface="Crimson Pro SemiBold" pitchFamily="34" charset="0"/>
                <a:ea typeface="Crimson Pro SemiBold" pitchFamily="34" charset="-122"/>
                <a:cs typeface="Crimson Pro SemiBold" pitchFamily="34" charset="-120"/>
              </a:rPr>
              <a:t>87%</a:t>
            </a:r>
            <a:endParaRPr lang="en-US" sz="1800" dirty="0"/>
          </a:p>
        </p:txBody>
      </p:sp>
      <p:pic>
        <p:nvPicPr>
          <p:cNvPr id="12" name="Image 0" descr="preencoded.png">    </p:cNvPr>
          <p:cNvPicPr>
            <a:picLocks noChangeAspect="1"/>
          </p:cNvPicPr>
          <p:nvPr/>
        </p:nvPicPr>
        <p:blipFill>
          <a:blip r:embed="rId1"/>
          <a:stretch>
            <a:fillRect/>
          </a:stretch>
        </p:blipFill>
        <p:spPr>
          <a:xfrm>
            <a:off x="1399654" y="2947913"/>
            <a:ext cx="1395487" cy="1395487"/>
          </a:xfrm>
          <a:prstGeom prst="rect">
            <a:avLst/>
          </a:prstGeom>
        </p:spPr>
      </p:pic>
      <p:sp>
        <p:nvSpPr>
          <p:cNvPr id="13" name="Text 10"/>
          <p:cNvSpPr/>
          <p:nvPr/>
        </p:nvSpPr>
        <p:spPr>
          <a:xfrm>
            <a:off x="1515963" y="4436343"/>
            <a:ext cx="1162869" cy="145331"/>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Aktuelle OTP</a:t>
            </a:r>
            <a:endParaRPr lang="en-US" sz="900" dirty="0"/>
          </a:p>
        </p:txBody>
      </p:sp>
      <p:sp>
        <p:nvSpPr>
          <p:cNvPr id="14" name="Text 11"/>
          <p:cNvSpPr/>
          <p:nvPr/>
        </p:nvSpPr>
        <p:spPr>
          <a:xfrm>
            <a:off x="903759" y="4623495"/>
            <a:ext cx="2387278" cy="130225"/>
          </a:xfrm>
          <a:prstGeom prst="rect">
            <a:avLst/>
          </a:prstGeom>
          <a:noFill/>
          <a:ln/>
        </p:spPr>
        <p:txBody>
          <a:bodyPr wrap="none" lIns="0" tIns="0" rIns="0" bIns="0" rtlCol="0" anchor="t"/>
          <a:lstStyle/>
          <a:p>
            <a:pPr algn="ctr" indent="0" marL="0">
              <a:lnSpc>
                <a:spcPct val="117000"/>
              </a:lnSpc>
              <a:buNone/>
            </a:pPr>
            <a:r>
              <a:rPr lang="en-US" sz="700" dirty="0">
                <a:solidFill>
                  <a:srgbClr val="4C4C4D"/>
                </a:solidFill>
                <a:latin typeface="Heebo" pitchFamily="34" charset="0"/>
                <a:ea typeface="Heebo" pitchFamily="34" charset="-122"/>
                <a:cs typeface="Heebo" pitchFamily="34" charset="-120"/>
              </a:rPr>
              <a:t>Ist-Zustand 2023–2025</a:t>
            </a:r>
            <a:endParaRPr lang="en-US" sz="700" dirty="0"/>
          </a:p>
        </p:txBody>
      </p:sp>
      <p:sp>
        <p:nvSpPr>
          <p:cNvPr id="15" name="Text 12"/>
          <p:cNvSpPr/>
          <p:nvPr/>
        </p:nvSpPr>
        <p:spPr>
          <a:xfrm>
            <a:off x="3999681" y="3529310"/>
            <a:ext cx="1144265" cy="232618"/>
          </a:xfrm>
          <a:prstGeom prst="rect">
            <a:avLst/>
          </a:prstGeom>
          <a:noFill/>
          <a:ln/>
        </p:spPr>
        <p:txBody>
          <a:bodyPr wrap="none" lIns="0" tIns="0" rIns="0" bIns="0" rtlCol="0" anchor="t"/>
          <a:lstStyle/>
          <a:p>
            <a:pPr algn="ctr" indent="0" marL="0">
              <a:lnSpc>
                <a:spcPct val="83000"/>
              </a:lnSpc>
              <a:buNone/>
            </a:pPr>
            <a:r>
              <a:rPr lang="en-US" sz="1800" dirty="0">
                <a:solidFill>
                  <a:srgbClr val="4C4C4D"/>
                </a:solidFill>
                <a:latin typeface="Crimson Pro SemiBold" pitchFamily="34" charset="0"/>
                <a:ea typeface="Crimson Pro SemiBold" pitchFamily="34" charset="-122"/>
                <a:cs typeface="Crimson Pro SemiBold" pitchFamily="34" charset="-120"/>
              </a:rPr>
              <a:t>95%</a:t>
            </a:r>
            <a:endParaRPr lang="en-US" sz="1800" dirty="0"/>
          </a:p>
        </p:txBody>
      </p:sp>
      <p:pic>
        <p:nvPicPr>
          <p:cNvPr id="16" name="Image 1" descr="preencoded.png">    </p:cNvPr>
          <p:cNvPicPr>
            <a:picLocks noChangeAspect="1"/>
          </p:cNvPicPr>
          <p:nvPr/>
        </p:nvPicPr>
        <p:blipFill>
          <a:blip r:embed="rId2"/>
          <a:stretch>
            <a:fillRect/>
          </a:stretch>
        </p:blipFill>
        <p:spPr>
          <a:xfrm>
            <a:off x="3874145" y="2947913"/>
            <a:ext cx="1395487" cy="1395487"/>
          </a:xfrm>
          <a:prstGeom prst="rect">
            <a:avLst/>
          </a:prstGeom>
        </p:spPr>
      </p:pic>
      <p:sp>
        <p:nvSpPr>
          <p:cNvPr id="17" name="Text 13"/>
          <p:cNvSpPr/>
          <p:nvPr/>
        </p:nvSpPr>
        <p:spPr>
          <a:xfrm>
            <a:off x="3990454" y="4436343"/>
            <a:ext cx="1162869" cy="145331"/>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VBZ-Ziel 2028</a:t>
            </a:r>
            <a:endParaRPr lang="en-US" sz="900" dirty="0"/>
          </a:p>
        </p:txBody>
      </p:sp>
      <p:sp>
        <p:nvSpPr>
          <p:cNvPr id="18" name="Text 14"/>
          <p:cNvSpPr/>
          <p:nvPr/>
        </p:nvSpPr>
        <p:spPr>
          <a:xfrm>
            <a:off x="3378250" y="4623495"/>
            <a:ext cx="2387352" cy="130225"/>
          </a:xfrm>
          <a:prstGeom prst="rect">
            <a:avLst/>
          </a:prstGeom>
          <a:noFill/>
          <a:ln/>
        </p:spPr>
        <p:txBody>
          <a:bodyPr wrap="none" lIns="0" tIns="0" rIns="0" bIns="0" rtlCol="0" anchor="t"/>
          <a:lstStyle/>
          <a:p>
            <a:pPr algn="ctr" indent="0" marL="0">
              <a:lnSpc>
                <a:spcPct val="117000"/>
              </a:lnSpc>
              <a:buNone/>
            </a:pPr>
            <a:r>
              <a:rPr lang="en-US" sz="700" dirty="0">
                <a:solidFill>
                  <a:srgbClr val="4C4C4D"/>
                </a:solidFill>
                <a:latin typeface="Heebo" pitchFamily="34" charset="0"/>
                <a:ea typeface="Heebo" pitchFamily="34" charset="-122"/>
                <a:cs typeface="Heebo" pitchFamily="34" charset="-120"/>
              </a:rPr>
              <a:t>Strategisches Pünktlichkeitsziel</a:t>
            </a:r>
            <a:endParaRPr lang="en-US" sz="700" dirty="0"/>
          </a:p>
        </p:txBody>
      </p:sp>
      <p:sp>
        <p:nvSpPr>
          <p:cNvPr id="19" name="Text 15"/>
          <p:cNvSpPr/>
          <p:nvPr/>
        </p:nvSpPr>
        <p:spPr>
          <a:xfrm>
            <a:off x="6474247" y="3529310"/>
            <a:ext cx="1144265" cy="232618"/>
          </a:xfrm>
          <a:prstGeom prst="rect">
            <a:avLst/>
          </a:prstGeom>
          <a:noFill/>
          <a:ln/>
        </p:spPr>
        <p:txBody>
          <a:bodyPr wrap="none" lIns="0" tIns="0" rIns="0" bIns="0" rtlCol="0" anchor="t"/>
          <a:lstStyle/>
          <a:p>
            <a:pPr algn="ctr" indent="0" marL="0">
              <a:lnSpc>
                <a:spcPct val="83000"/>
              </a:lnSpc>
              <a:buNone/>
            </a:pPr>
            <a:r>
              <a:rPr lang="en-US" sz="1800" dirty="0">
                <a:solidFill>
                  <a:srgbClr val="4C4C4D"/>
                </a:solidFill>
                <a:latin typeface="Crimson Pro SemiBold" pitchFamily="34" charset="0"/>
                <a:ea typeface="Crimson Pro SemiBold" pitchFamily="34" charset="-122"/>
                <a:cs typeface="Crimson Pro SemiBold" pitchFamily="34" charset="-120"/>
              </a:rPr>
              <a:t>71.3%</a:t>
            </a:r>
            <a:endParaRPr lang="en-US" sz="1800" dirty="0"/>
          </a:p>
        </p:txBody>
      </p:sp>
      <p:pic>
        <p:nvPicPr>
          <p:cNvPr id="20" name="Image 2" descr="preencoded.png">    </p:cNvPr>
          <p:cNvPicPr>
            <a:picLocks noChangeAspect="1"/>
          </p:cNvPicPr>
          <p:nvPr/>
        </p:nvPicPr>
        <p:blipFill>
          <a:blip r:embed="rId3"/>
          <a:stretch>
            <a:fillRect/>
          </a:stretch>
        </p:blipFill>
        <p:spPr>
          <a:xfrm>
            <a:off x="6348710" y="2947913"/>
            <a:ext cx="1395487" cy="1395487"/>
          </a:xfrm>
          <a:prstGeom prst="rect">
            <a:avLst/>
          </a:prstGeom>
        </p:spPr>
      </p:pic>
      <p:sp>
        <p:nvSpPr>
          <p:cNvPr id="21" name="Text 16"/>
          <p:cNvSpPr/>
          <p:nvPr/>
        </p:nvSpPr>
        <p:spPr>
          <a:xfrm>
            <a:off x="6464573" y="4436343"/>
            <a:ext cx="1163836" cy="145331"/>
          </a:xfrm>
          <a:prstGeom prst="rect">
            <a:avLst/>
          </a:prstGeom>
          <a:noFill/>
          <a:ln/>
        </p:spPr>
        <p:txBody>
          <a:bodyPr wrap="none" lIns="0" tIns="0" rIns="0" bIns="0" rtlCol="0" anchor="t"/>
          <a:lstStyle/>
          <a:p>
            <a:pPr algn="ctr" indent="0" marL="0">
              <a:lnSpc>
                <a:spcPct val="104000"/>
              </a:lnSpc>
              <a:buNone/>
            </a:pPr>
            <a:r>
              <a:rPr lang="en-US" sz="900" dirty="0">
                <a:solidFill>
                  <a:srgbClr val="4C4C4D"/>
                </a:solidFill>
                <a:latin typeface="Crimson Pro SemiBold" pitchFamily="34" charset="0"/>
                <a:ea typeface="Crimson Pro SemiBold" pitchFamily="34" charset="-122"/>
                <a:cs typeface="Crimson Pro SemiBold" pitchFamily="34" charset="-120"/>
              </a:rPr>
              <a:t>Haltestellen ohne Puffer</a:t>
            </a:r>
            <a:endParaRPr lang="en-US" sz="900" dirty="0"/>
          </a:p>
        </p:txBody>
      </p:sp>
      <p:sp>
        <p:nvSpPr>
          <p:cNvPr id="22" name="Text 17"/>
          <p:cNvSpPr/>
          <p:nvPr/>
        </p:nvSpPr>
        <p:spPr>
          <a:xfrm>
            <a:off x="5852815" y="4623495"/>
            <a:ext cx="2387352" cy="130225"/>
          </a:xfrm>
          <a:prstGeom prst="rect">
            <a:avLst/>
          </a:prstGeom>
          <a:noFill/>
          <a:ln/>
        </p:spPr>
        <p:txBody>
          <a:bodyPr wrap="none" lIns="0" tIns="0" rIns="0" bIns="0" rtlCol="0" anchor="t"/>
          <a:lstStyle/>
          <a:p>
            <a:pPr algn="ctr" indent="0" marL="0">
              <a:lnSpc>
                <a:spcPct val="117000"/>
              </a:lnSpc>
              <a:buNone/>
            </a:pPr>
            <a:r>
              <a:rPr lang="en-US" sz="700" dirty="0">
                <a:solidFill>
                  <a:srgbClr val="4C4C4D"/>
                </a:solidFill>
                <a:latin typeface="Heebo" pitchFamily="34" charset="0"/>
                <a:ea typeface="Heebo" pitchFamily="34" charset="-122"/>
                <a:cs typeface="Heebo" pitchFamily="34" charset="-120"/>
              </a:rPr>
              <a:t>Struktureller Haupttreiber</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54806"/>
            <a:ext cx="3461445" cy="375493"/>
          </a:xfrm>
          <a:prstGeom prst="rect">
            <a:avLst/>
          </a:prstGeom>
          <a:noFill/>
          <a:ln/>
        </p:spPr>
        <p:txBody>
          <a:bodyPr wrap="none" lIns="0" tIns="0" rIns="0" bIns="0" rtlCol="0" anchor="t"/>
          <a:lstStyle/>
          <a:p>
            <a:pPr algn="l" indent="0" marL="0">
              <a:lnSpc>
                <a:spcPct val="104000"/>
              </a:lnSpc>
              <a:buNone/>
            </a:pPr>
            <a:r>
              <a:rPr lang="en-US" sz="2350" dirty="0">
                <a:solidFill>
                  <a:srgbClr val="152D47"/>
                </a:solidFill>
                <a:latin typeface="Crimson Pro SemiBold" pitchFamily="34" charset="0"/>
                <a:ea typeface="Crimson Pro SemiBold" pitchFamily="34" charset="-122"/>
                <a:cs typeface="Crimson Pro SemiBold" pitchFamily="34" charset="-120"/>
              </a:rPr>
              <a:t>7. Projektrahmen</a:t>
            </a:r>
            <a:endParaRPr lang="en-US" sz="2350" dirty="0"/>
          </a:p>
        </p:txBody>
      </p:sp>
      <p:sp>
        <p:nvSpPr>
          <p:cNvPr id="3" name="Text 1"/>
          <p:cNvSpPr/>
          <p:nvPr/>
        </p:nvSpPr>
        <p:spPr>
          <a:xfrm>
            <a:off x="496119" y="963067"/>
            <a:ext cx="8151763" cy="378470"/>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4C4C4D"/>
                </a:solidFill>
                <a:latin typeface="Heebo" pitchFamily="34" charset="0"/>
                <a:ea typeface="Heebo" pitchFamily="34" charset="-122"/>
                <a:cs typeface="Heebo" pitchFamily="34" charset="-120"/>
              </a:rPr>
              <a:t>Das Projekt Zürich Tram Flow basiert auf einer umfassenden, hochwertigen Datenbasis und einem modernen, reproduzierbaren Technologie-Stack. Die vollständige Dokumentation ermöglicht es anderen Teams, die Analyse zu verifizieren, zu erweitern oder auf andere Verkehrssysteme zu übertragen.</a:t>
            </a:r>
            <a:endParaRPr lang="en-US" sz="9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472431"/>
            <a:ext cx="300410" cy="300410"/>
          </a:xfrm>
          <a:prstGeom prst="rect">
            <a:avLst/>
          </a:prstGeom>
        </p:spPr>
      </p:pic>
      <p:sp>
        <p:nvSpPr>
          <p:cNvPr id="5" name="Text 2"/>
          <p:cNvSpPr/>
          <p:nvPr/>
        </p:nvSpPr>
        <p:spPr>
          <a:xfrm>
            <a:off x="496119" y="1918320"/>
            <a:ext cx="1502122" cy="187747"/>
          </a:xfrm>
          <a:prstGeom prst="rect">
            <a:avLst/>
          </a:prstGeom>
          <a:noFill/>
          <a:ln/>
        </p:spPr>
        <p:txBody>
          <a:bodyPr wrap="none" lIns="0" tIns="0" rIns="0" bIns="0" rtlCol="0" anchor="t"/>
          <a:lstStyle/>
          <a:p>
            <a:pPr algn="l"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Datenbasis</a:t>
            </a:r>
            <a:endParaRPr lang="en-US" sz="1150" dirty="0"/>
          </a:p>
        </p:txBody>
      </p:sp>
      <p:sp>
        <p:nvSpPr>
          <p:cNvPr id="6" name="Text 3"/>
          <p:cNvSpPr/>
          <p:nvPr/>
        </p:nvSpPr>
        <p:spPr>
          <a:xfrm>
            <a:off x="496119" y="2175867"/>
            <a:ext cx="2620268" cy="1703115"/>
          </a:xfrm>
          <a:prstGeom prst="rect">
            <a:avLst/>
          </a:prstGeom>
          <a:noFill/>
          <a:ln/>
        </p:spPr>
        <p:txBody>
          <a:bodyPr wrap="square" lIns="0" tIns="0" rIns="0" bIns="0" rtlCol="0" anchor="t">
            <a:normAutofit/>
          </a:bodyPr>
          <a:lstStyle/>
          <a:p>
            <a:pPr algn="l" indent="0" marL="0">
              <a:lnSpc>
                <a:spcPct val="131000"/>
              </a:lnSpc>
              <a:buNone/>
            </a:pPr>
            <a:r>
              <a:rPr lang="en-US" sz="900" b="1" dirty="0">
                <a:solidFill>
                  <a:srgbClr val="4C4C4D"/>
                </a:solidFill>
                <a:latin typeface="Heebo" pitchFamily="34" charset="0"/>
                <a:ea typeface="Heebo" pitchFamily="34" charset="-122"/>
                <a:cs typeface="Heebo" pitchFamily="34" charset="-120"/>
              </a:rPr>
              <a:t>94.4 Millionen Halt-Ereignisse</a:t>
            </a:r>
            <a:pPr algn="l" indent="0" marL="0">
              <a:lnSpc>
                <a:spcPct val="131000"/>
              </a:lnSpc>
              <a:buNone/>
            </a:pPr>
            <a:r>
              <a:rPr lang="en-US" sz="900" dirty="0">
                <a:solidFill>
                  <a:srgbClr val="4C4C4D"/>
                </a:solidFill>
                <a:latin typeface="Heebo" pitchFamily="34" charset="0"/>
                <a:ea typeface="Heebo" pitchFamily="34" charset="-122"/>
                <a:cs typeface="Heebo" pitchFamily="34" charset="-120"/>
              </a:rPr>
              <a:t> bilden das Fundament der Analyse. Die Daten wurden aus drei Quellen kombiniert: </a:t>
            </a:r>
            <a:pPr algn="l" indent="0" marL="0">
              <a:lnSpc>
                <a:spcPct val="131000"/>
              </a:lnSpc>
              <a:buNone/>
            </a:pPr>
            <a:r>
              <a:rPr lang="en-US" sz="900" b="1" dirty="0">
                <a:solidFill>
                  <a:srgbClr val="4C4C4D"/>
                </a:solidFill>
                <a:latin typeface="Heebo" pitchFamily="34" charset="0"/>
                <a:ea typeface="Heebo" pitchFamily="34" charset="-122"/>
                <a:cs typeface="Heebo" pitchFamily="34" charset="-120"/>
              </a:rPr>
              <a:t>VBZ IST-Daten</a:t>
            </a:r>
            <a:pPr algn="l" indent="0" marL="0">
              <a:lnSpc>
                <a:spcPct val="131000"/>
              </a:lnSpc>
              <a:buNone/>
            </a:pPr>
            <a:r>
              <a:rPr lang="en-US" sz="900" dirty="0">
                <a:solidFill>
                  <a:srgbClr val="4C4C4D"/>
                </a:solidFill>
                <a:latin typeface="Heebo" pitchFamily="34" charset="0"/>
                <a:ea typeface="Heebo" pitchFamily="34" charset="-122"/>
                <a:cs typeface="Heebo" pitchFamily="34" charset="-120"/>
              </a:rPr>
              <a:t> (tatsächliche Ankunfts- und Abfahrtszeiten), </a:t>
            </a:r>
            <a:pPr algn="l" indent="0" marL="0">
              <a:lnSpc>
                <a:spcPct val="131000"/>
              </a:lnSpc>
              <a:buNone/>
            </a:pPr>
            <a:r>
              <a:rPr lang="en-US" sz="900" b="1" dirty="0">
                <a:solidFill>
                  <a:srgbClr val="4C4C4D"/>
                </a:solidFill>
                <a:latin typeface="Heebo" pitchFamily="34" charset="0"/>
                <a:ea typeface="Heebo" pitchFamily="34" charset="-122"/>
                <a:cs typeface="Heebo" pitchFamily="34" charset="-120"/>
              </a:rPr>
              <a:t>GTFS</a:t>
            </a:r>
            <a:pPr algn="l" indent="0" marL="0">
              <a:lnSpc>
                <a:spcPct val="131000"/>
              </a:lnSpc>
              <a:buNone/>
            </a:pPr>
            <a:r>
              <a:rPr lang="en-US" sz="900" dirty="0">
                <a:solidFill>
                  <a:srgbClr val="4C4C4D"/>
                </a:solidFill>
                <a:latin typeface="Heebo" pitchFamily="34" charset="0"/>
                <a:ea typeface="Heebo" pitchFamily="34" charset="-122"/>
                <a:cs typeface="Heebo" pitchFamily="34" charset="-120"/>
              </a:rPr>
              <a:t> (Geplante Fahrplandaten) und </a:t>
            </a:r>
            <a:pPr algn="l" indent="0" marL="0">
              <a:lnSpc>
                <a:spcPct val="131000"/>
              </a:lnSpc>
              <a:buNone/>
            </a:pPr>
            <a:r>
              <a:rPr lang="en-US" sz="900" b="1" dirty="0">
                <a:solidFill>
                  <a:srgbClr val="4C4C4D"/>
                </a:solidFill>
                <a:latin typeface="Heebo" pitchFamily="34" charset="0"/>
                <a:ea typeface="Heebo" pitchFamily="34" charset="-122"/>
                <a:cs typeface="Heebo" pitchFamily="34" charset="-120"/>
              </a:rPr>
              <a:t>Meteo Schweiz</a:t>
            </a:r>
            <a:pPr algn="l" indent="0" marL="0">
              <a:lnSpc>
                <a:spcPct val="131000"/>
              </a:lnSpc>
              <a:buNone/>
            </a:pPr>
            <a:r>
              <a:rPr lang="en-US" sz="900" dirty="0">
                <a:solidFill>
                  <a:srgbClr val="4C4C4D"/>
                </a:solidFill>
                <a:latin typeface="Heebo" pitchFamily="34" charset="0"/>
                <a:ea typeface="Heebo" pitchFamily="34" charset="-122"/>
                <a:cs typeface="Heebo" pitchFamily="34" charset="-120"/>
              </a:rPr>
              <a:t> (Wetterdaten für den Einflussfaktor Analyse). Diese Triangulation ermöglicht eine kausale, nicht nur korrelative Betrachtung der Verspätungsursachen.</a:t>
            </a:r>
            <a:endParaRPr lang="en-US" sz="9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1866" y="1472431"/>
            <a:ext cx="300410" cy="300410"/>
          </a:xfrm>
          <a:prstGeom prst="rect">
            <a:avLst/>
          </a:prstGeom>
        </p:spPr>
      </p:pic>
      <p:sp>
        <p:nvSpPr>
          <p:cNvPr id="8" name="Text 4"/>
          <p:cNvSpPr/>
          <p:nvPr/>
        </p:nvSpPr>
        <p:spPr>
          <a:xfrm>
            <a:off x="3261866" y="1918320"/>
            <a:ext cx="1502122" cy="187747"/>
          </a:xfrm>
          <a:prstGeom prst="rect">
            <a:avLst/>
          </a:prstGeom>
          <a:noFill/>
          <a:ln/>
        </p:spPr>
        <p:txBody>
          <a:bodyPr wrap="none" lIns="0" tIns="0" rIns="0" bIns="0" rtlCol="0" anchor="t"/>
          <a:lstStyle/>
          <a:p>
            <a:pPr algn="l"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Technologie-Stack</a:t>
            </a:r>
            <a:endParaRPr lang="en-US" sz="1150" dirty="0"/>
          </a:p>
        </p:txBody>
      </p:sp>
      <p:sp>
        <p:nvSpPr>
          <p:cNvPr id="9" name="Text 5"/>
          <p:cNvSpPr/>
          <p:nvPr/>
        </p:nvSpPr>
        <p:spPr>
          <a:xfrm>
            <a:off x="3261866" y="2175867"/>
            <a:ext cx="2620268" cy="1513880"/>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4C4C4D"/>
                </a:solidFill>
                <a:latin typeface="Heebo" pitchFamily="34" charset="0"/>
                <a:ea typeface="Heebo" pitchFamily="34" charset="-122"/>
                <a:cs typeface="Heebo" pitchFamily="34" charset="-120"/>
              </a:rPr>
              <a:t>Das Projekt nutzt einen modernen Python-basierten Stack: </a:t>
            </a:r>
            <a:pPr algn="l" indent="0" marL="0">
              <a:lnSpc>
                <a:spcPct val="131000"/>
              </a:lnSpc>
              <a:buNone/>
            </a:pPr>
            <a:r>
              <a:rPr lang="en-US" sz="900" b="1" dirty="0">
                <a:solidFill>
                  <a:srgbClr val="4C4C4D"/>
                </a:solidFill>
                <a:latin typeface="Heebo" pitchFamily="34" charset="0"/>
                <a:ea typeface="Heebo" pitchFamily="34" charset="-122"/>
                <a:cs typeface="Heebo" pitchFamily="34" charset="-120"/>
              </a:rPr>
              <a:t>Python</a:t>
            </a:r>
            <a:pPr algn="l" indent="0" marL="0">
              <a:lnSpc>
                <a:spcPct val="131000"/>
              </a:lnSpc>
              <a:buNone/>
            </a:pPr>
            <a:r>
              <a:rPr lang="en-US" sz="900" dirty="0">
                <a:solidFill>
                  <a:srgbClr val="4C4C4D"/>
                </a:solidFill>
                <a:latin typeface="Heebo" pitchFamily="34" charset="0"/>
                <a:ea typeface="Heebo" pitchFamily="34" charset="-122"/>
                <a:cs typeface="Heebo" pitchFamily="34" charset="-120"/>
              </a:rPr>
              <a:t> als Kernsprache, </a:t>
            </a:r>
            <a:pPr algn="l" indent="0" marL="0">
              <a:lnSpc>
                <a:spcPct val="131000"/>
              </a:lnSpc>
              <a:buNone/>
            </a:pPr>
            <a:r>
              <a:rPr lang="en-US" sz="900" b="1" dirty="0">
                <a:solidFill>
                  <a:srgbClr val="4C4C4D"/>
                </a:solidFill>
                <a:latin typeface="Heebo" pitchFamily="34" charset="0"/>
                <a:ea typeface="Heebo" pitchFamily="34" charset="-122"/>
                <a:cs typeface="Heebo" pitchFamily="34" charset="-120"/>
              </a:rPr>
              <a:t>Polars</a:t>
            </a:r>
            <a:pPr algn="l" indent="0" marL="0">
              <a:lnSpc>
                <a:spcPct val="131000"/>
              </a:lnSpc>
              <a:buNone/>
            </a:pPr>
            <a:r>
              <a:rPr lang="en-US" sz="900" dirty="0">
                <a:solidFill>
                  <a:srgbClr val="4C4C4D"/>
                </a:solidFill>
                <a:latin typeface="Heebo" pitchFamily="34" charset="0"/>
                <a:ea typeface="Heebo" pitchFamily="34" charset="-122"/>
                <a:cs typeface="Heebo" pitchFamily="34" charset="-120"/>
              </a:rPr>
              <a:t> für performantes Data Engineering (wesentlich schneller als Pandas bei grossen Datensätzen) und </a:t>
            </a:r>
            <a:pPr algn="l" indent="0" marL="0">
              <a:lnSpc>
                <a:spcPct val="131000"/>
              </a:lnSpc>
              <a:buNone/>
            </a:pPr>
            <a:r>
              <a:rPr lang="en-US" sz="900" b="1" dirty="0">
                <a:solidFill>
                  <a:srgbClr val="4C4C4D"/>
                </a:solidFill>
                <a:latin typeface="Heebo" pitchFamily="34" charset="0"/>
                <a:ea typeface="Heebo" pitchFamily="34" charset="-122"/>
                <a:cs typeface="Heebo" pitchFamily="34" charset="-120"/>
              </a:rPr>
              <a:t>LightGBM</a:t>
            </a:r>
            <a:pPr algn="l" indent="0" marL="0">
              <a:lnSpc>
                <a:spcPct val="131000"/>
              </a:lnSpc>
              <a:buNone/>
            </a:pPr>
            <a:r>
              <a:rPr lang="en-US" sz="900" dirty="0">
                <a:solidFill>
                  <a:srgbClr val="4C4C4D"/>
                </a:solidFill>
                <a:latin typeface="Heebo" pitchFamily="34" charset="0"/>
                <a:ea typeface="Heebo" pitchFamily="34" charset="-122"/>
                <a:cs typeface="Heebo" pitchFamily="34" charset="-120"/>
              </a:rPr>
              <a:t> als Gradient-Boosting-Framework für das prädiktive Modell. Die Wahl dieser Tools gewährleistet Skalierbarkeit und Wartbarkeit über den Projektzeitraum hinaus.</a:t>
            </a:r>
            <a:endParaRPr lang="en-US" sz="9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27613" y="1472431"/>
            <a:ext cx="300410" cy="300410"/>
          </a:xfrm>
          <a:prstGeom prst="rect">
            <a:avLst/>
          </a:prstGeom>
        </p:spPr>
      </p:pic>
      <p:sp>
        <p:nvSpPr>
          <p:cNvPr id="11" name="Text 6"/>
          <p:cNvSpPr/>
          <p:nvPr/>
        </p:nvSpPr>
        <p:spPr>
          <a:xfrm>
            <a:off x="6027613" y="1918320"/>
            <a:ext cx="1502122" cy="187747"/>
          </a:xfrm>
          <a:prstGeom prst="rect">
            <a:avLst/>
          </a:prstGeom>
          <a:noFill/>
          <a:ln/>
        </p:spPr>
        <p:txBody>
          <a:bodyPr wrap="none" lIns="0" tIns="0" rIns="0" bIns="0" rtlCol="0" anchor="t"/>
          <a:lstStyle/>
          <a:p>
            <a:pPr algn="l"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Reproduzierbarkeit</a:t>
            </a:r>
            <a:endParaRPr lang="en-US" sz="1150" dirty="0"/>
          </a:p>
        </p:txBody>
      </p:sp>
      <p:sp>
        <p:nvSpPr>
          <p:cNvPr id="12" name="Text 7"/>
          <p:cNvSpPr/>
          <p:nvPr/>
        </p:nvSpPr>
        <p:spPr>
          <a:xfrm>
            <a:off x="6027613" y="2175867"/>
            <a:ext cx="2620268" cy="1703115"/>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4C4C4D"/>
                </a:solidFill>
                <a:latin typeface="Heebo" pitchFamily="34" charset="0"/>
                <a:ea typeface="Heebo" pitchFamily="34" charset="-122"/>
                <a:cs typeface="Heebo" pitchFamily="34" charset="-120"/>
              </a:rPr>
              <a:t>Das gesamte Projekt ist </a:t>
            </a:r>
            <a:pPr algn="l" indent="0" marL="0">
              <a:lnSpc>
                <a:spcPct val="131000"/>
              </a:lnSpc>
              <a:buNone/>
            </a:pPr>
            <a:r>
              <a:rPr lang="en-US" sz="900" b="1" dirty="0">
                <a:solidFill>
                  <a:srgbClr val="4C4C4D"/>
                </a:solidFill>
                <a:latin typeface="Heebo" pitchFamily="34" charset="0"/>
                <a:ea typeface="Heebo" pitchFamily="34" charset="-122"/>
                <a:cs typeface="Heebo" pitchFamily="34" charset="-120"/>
              </a:rPr>
              <a:t>vollständig dokumentiert und öffentlich zugänglich</a:t>
            </a:r>
            <a:pPr algn="l" indent="0" marL="0">
              <a:lnSpc>
                <a:spcPct val="131000"/>
              </a:lnSpc>
              <a:buNone/>
            </a:pPr>
            <a:r>
              <a:rPr lang="en-US" sz="900" dirty="0">
                <a:solidFill>
                  <a:srgbClr val="4C4C4D"/>
                </a:solidFill>
                <a:latin typeface="Heebo" pitchFamily="34" charset="0"/>
                <a:ea typeface="Heebo" pitchFamily="34" charset="-122"/>
                <a:cs typeface="Heebo" pitchFamily="34" charset="-120"/>
              </a:rPr>
              <a:t> auf GitHub unter </a:t>
            </a:r>
            <a:pPr algn="l" indent="0" marL="0">
              <a:lnSpc>
                <a:spcPct val="131000"/>
              </a:lnSpc>
              <a:buNone/>
            </a:pPr>
            <a:r>
              <a:rPr lang="en-US" sz="900" u="sng" dirty="0">
                <a:solidFill>
                  <a:srgbClr val="2150FE"/>
                </a:solidFill>
                <a:latin typeface="Heebo" pitchFamily="34" charset="0"/>
                <a:ea typeface="Heebo" pitchFamily="34" charset="-122"/>
                <a:cs typeface="Heebo"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github.com/kaywiegand/zh-tram-flow</a:t>
            </a:r>
            <a:pPr algn="l" indent="0" marL="0">
              <a:lnSpc>
                <a:spcPct val="131000"/>
              </a:lnSpc>
              <a:buNone/>
            </a:pPr>
            <a:r>
              <a:rPr lang="en-US" sz="900" dirty="0">
                <a:solidFill>
                  <a:srgbClr val="4C4C4D"/>
                </a:solidFill>
                <a:latin typeface="Heebo" pitchFamily="34" charset="0"/>
                <a:ea typeface="Heebo" pitchFamily="34" charset="-122"/>
                <a:cs typeface="Heebo" pitchFamily="34" charset="-120"/>
              </a:rPr>
              <a:t>. Dies umfasst den vollständigen Code, die Daten-Pipelines, die Modellkonfiguration und eine detaillierte README-Dokumentation. Andere Teams können die Analyse replizieren, validieren oder als Ausgangspunkt für eigene Projekte nutzen.</a:t>
            </a:r>
            <a:endParaRPr lang="en-US" sz="900" dirty="0"/>
          </a:p>
        </p:txBody>
      </p:sp>
      <p:sp>
        <p:nvSpPr>
          <p:cNvPr id="13" name="Shape 8"/>
          <p:cNvSpPr/>
          <p:nvPr/>
        </p:nvSpPr>
        <p:spPr>
          <a:xfrm>
            <a:off x="496119" y="4009876"/>
            <a:ext cx="8151763" cy="647849"/>
          </a:xfrm>
          <a:prstGeom prst="roundRect">
            <a:avLst>
              <a:gd name="adj" fmla="val 2782"/>
            </a:avLst>
          </a:prstGeom>
          <a:solidFill>
            <a:srgbClr val="B3C3FF"/>
          </a:solidFill>
          <a:ln/>
        </p:spPr>
      </p:sp>
      <p:pic>
        <p:nvPicPr>
          <p:cNvPr id="14" name="Image 3" descr="preencoded.png">    </p:cNvPr>
          <p:cNvPicPr>
            <a:picLocks noChangeAspect="1"/>
          </p:cNvPicPr>
          <p:nvPr/>
        </p:nvPicPr>
        <p:blipFill>
          <a:blip r:embed="rId8"/>
          <a:stretch>
            <a:fillRect/>
          </a:stretch>
        </p:blipFill>
        <p:spPr>
          <a:xfrm>
            <a:off x="616223" y="4178647"/>
            <a:ext cx="150168" cy="120104"/>
          </a:xfrm>
          <a:prstGeom prst="rect">
            <a:avLst/>
          </a:prstGeom>
        </p:spPr>
      </p:pic>
      <p:sp>
        <p:nvSpPr>
          <p:cNvPr id="15" name="Text 9"/>
          <p:cNvSpPr/>
          <p:nvPr/>
        </p:nvSpPr>
        <p:spPr>
          <a:xfrm>
            <a:off x="886495" y="4144566"/>
            <a:ext cx="7641282" cy="378470"/>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000000"/>
                </a:solidFill>
                <a:latin typeface="Heebo" pitchFamily="34" charset="0"/>
                <a:ea typeface="Heebo" pitchFamily="34" charset="-122"/>
                <a:cs typeface="Heebo" pitchFamily="34" charset="-120"/>
              </a:rPr>
              <a:t>Für Fragen zur Methodik, zur Datenbasis oder zur Implementierung der Handlungsempfehlungen steht der Autor Kay Wiegand gerne zur Verfügung. Das GitHub-Repository enthält zudem ein FAQ und Kontaktinformationen.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865537" y="368647"/>
            <a:ext cx="3412927" cy="369466"/>
          </a:xfrm>
          <a:prstGeom prst="rect">
            <a:avLst/>
          </a:prstGeom>
          <a:noFill/>
          <a:ln/>
        </p:spPr>
        <p:txBody>
          <a:bodyPr wrap="none" lIns="0" tIns="0" rIns="0" bIns="0" rtlCol="0" anchor="t"/>
          <a:lstStyle/>
          <a:p>
            <a:pPr algn="ctr" indent="0" marL="0">
              <a:lnSpc>
                <a:spcPct val="104000"/>
              </a:lnSpc>
              <a:buNone/>
            </a:pPr>
            <a:r>
              <a:rPr lang="en-US" sz="2300" dirty="0">
                <a:solidFill>
                  <a:srgbClr val="152D47"/>
                </a:solidFill>
                <a:latin typeface="Crimson Pro SemiBold" pitchFamily="34" charset="0"/>
                <a:ea typeface="Crimson Pro SemiBold" pitchFamily="34" charset="-122"/>
                <a:cs typeface="Crimson Pro SemiBold" pitchFamily="34" charset="-120"/>
              </a:rPr>
              <a:t>Zurich Tram Flow</a:t>
            </a:r>
            <a:endParaRPr lang="en-US" sz="2300" dirty="0"/>
          </a:p>
        </p:txBody>
      </p:sp>
      <p:sp>
        <p:nvSpPr>
          <p:cNvPr id="3" name="Text 1"/>
          <p:cNvSpPr/>
          <p:nvPr/>
        </p:nvSpPr>
        <p:spPr>
          <a:xfrm>
            <a:off x="267519" y="963439"/>
            <a:ext cx="8608963" cy="184696"/>
          </a:xfrm>
          <a:prstGeom prst="rect">
            <a:avLst/>
          </a:prstGeom>
          <a:noFill/>
          <a:ln/>
        </p:spPr>
        <p:txBody>
          <a:bodyPr wrap="none" lIns="0" tIns="0" rIns="0" bIns="0" rtlCol="0" anchor="t"/>
          <a:lstStyle/>
          <a:p>
            <a:pPr algn="ctr" indent="0" marL="0">
              <a:lnSpc>
                <a:spcPct val="130000"/>
              </a:lnSpc>
              <a:buNone/>
            </a:pPr>
            <a:r>
              <a:rPr lang="en-US" sz="900" dirty="0">
                <a:solidFill>
                  <a:srgbClr val="4C4C4D"/>
                </a:solidFill>
                <a:latin typeface="Heebo" pitchFamily="34" charset="0"/>
                <a:ea typeface="Heebo" pitchFamily="34" charset="-122"/>
                <a:cs typeface="Heebo" pitchFamily="34" charset="-120"/>
              </a:rPr>
              <a:t>Kay Wiegand · Project Overview 2023–2025</a:t>
            </a:r>
            <a:endParaRPr lang="en-US" sz="900" dirty="0"/>
          </a:p>
        </p:txBody>
      </p:sp>
      <p:sp>
        <p:nvSpPr>
          <p:cNvPr id="4" name="Text 2"/>
          <p:cNvSpPr/>
          <p:nvPr/>
        </p:nvSpPr>
        <p:spPr>
          <a:xfrm>
            <a:off x="496119" y="1333946"/>
            <a:ext cx="4005486" cy="390153"/>
          </a:xfrm>
          <a:prstGeom prst="rect">
            <a:avLst/>
          </a:prstGeom>
          <a:noFill/>
          <a:ln/>
        </p:spPr>
        <p:txBody>
          <a:bodyPr wrap="none" lIns="0" tIns="0" rIns="0" bIns="0" rtlCol="0" anchor="t"/>
          <a:lstStyle/>
          <a:p>
            <a:pPr algn="ctr" indent="0" marL="0">
              <a:lnSpc>
                <a:spcPct val="83000"/>
              </a:lnSpc>
              <a:buNone/>
            </a:pPr>
            <a:r>
              <a:rPr lang="en-US" sz="3050" dirty="0">
                <a:solidFill>
                  <a:srgbClr val="4C4C4D"/>
                </a:solidFill>
                <a:latin typeface="Crimson Pro SemiBold" pitchFamily="34" charset="0"/>
                <a:ea typeface="Crimson Pro SemiBold" pitchFamily="34" charset="-122"/>
                <a:cs typeface="Crimson Pro SemiBold" pitchFamily="34" charset="-120"/>
              </a:rPr>
              <a:t>63</a:t>
            </a:r>
            <a:endParaRPr lang="en-US" sz="3050" dirty="0"/>
          </a:p>
        </p:txBody>
      </p:sp>
      <p:sp>
        <p:nvSpPr>
          <p:cNvPr id="5" name="Text 3"/>
          <p:cNvSpPr/>
          <p:nvPr/>
        </p:nvSpPr>
        <p:spPr>
          <a:xfrm>
            <a:off x="1759893" y="1867644"/>
            <a:ext cx="1477863" cy="184696"/>
          </a:xfrm>
          <a:prstGeom prst="rect">
            <a:avLst/>
          </a:prstGeom>
          <a:noFill/>
          <a:ln/>
        </p:spPr>
        <p:txBody>
          <a:bodyPr wrap="none" lIns="0" tIns="0" rIns="0" bIns="0" rtlCol="0" anchor="t"/>
          <a:lstStyle/>
          <a:p>
            <a:pPr algn="ctr"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Insights</a:t>
            </a:r>
            <a:endParaRPr lang="en-US" sz="1150" dirty="0"/>
          </a:p>
        </p:txBody>
      </p:sp>
      <p:sp>
        <p:nvSpPr>
          <p:cNvPr id="6" name="Text 4"/>
          <p:cNvSpPr/>
          <p:nvPr/>
        </p:nvSpPr>
        <p:spPr>
          <a:xfrm>
            <a:off x="496119" y="2119908"/>
            <a:ext cx="4005486" cy="184696"/>
          </a:xfrm>
          <a:prstGeom prst="rect">
            <a:avLst/>
          </a:prstGeom>
          <a:noFill/>
          <a:ln/>
        </p:spPr>
        <p:txBody>
          <a:bodyPr wrap="none" lIns="0" tIns="0" rIns="0" bIns="0" rtlCol="0" anchor="t"/>
          <a:lstStyle/>
          <a:p>
            <a:pPr algn="ctr" indent="0" marL="0">
              <a:lnSpc>
                <a:spcPct val="130000"/>
              </a:lnSpc>
              <a:buNone/>
            </a:pPr>
            <a:r>
              <a:rPr lang="en-US" sz="900" dirty="0">
                <a:solidFill>
                  <a:srgbClr val="4C4C4D"/>
                </a:solidFill>
                <a:latin typeface="Heebo" pitchFamily="34" charset="0"/>
                <a:ea typeface="Heebo" pitchFamily="34" charset="-122"/>
                <a:cs typeface="Heebo" pitchFamily="34" charset="-120"/>
              </a:rPr>
              <a:t>Key findings from the analysis</a:t>
            </a:r>
            <a:endParaRPr lang="en-US" sz="900" dirty="0"/>
          </a:p>
        </p:txBody>
      </p:sp>
      <p:sp>
        <p:nvSpPr>
          <p:cNvPr id="7" name="Text 5"/>
          <p:cNvSpPr/>
          <p:nvPr/>
        </p:nvSpPr>
        <p:spPr>
          <a:xfrm>
            <a:off x="4642396" y="1333946"/>
            <a:ext cx="4005486" cy="390153"/>
          </a:xfrm>
          <a:prstGeom prst="rect">
            <a:avLst/>
          </a:prstGeom>
          <a:noFill/>
          <a:ln/>
        </p:spPr>
        <p:txBody>
          <a:bodyPr wrap="none" lIns="0" tIns="0" rIns="0" bIns="0" rtlCol="0" anchor="t"/>
          <a:lstStyle/>
          <a:p>
            <a:pPr algn="ctr" indent="0" marL="0">
              <a:lnSpc>
                <a:spcPct val="83000"/>
              </a:lnSpc>
              <a:buNone/>
            </a:pPr>
            <a:r>
              <a:rPr lang="en-US" sz="3050" dirty="0">
                <a:solidFill>
                  <a:srgbClr val="4C4C4D"/>
                </a:solidFill>
                <a:latin typeface="Crimson Pro SemiBold" pitchFamily="34" charset="0"/>
                <a:ea typeface="Crimson Pro SemiBold" pitchFamily="34" charset="-122"/>
                <a:cs typeface="Crimson Pro SemiBold" pitchFamily="34" charset="-120"/>
              </a:rPr>
              <a:t>12</a:t>
            </a:r>
            <a:endParaRPr lang="en-US" sz="3050" dirty="0"/>
          </a:p>
        </p:txBody>
      </p:sp>
      <p:sp>
        <p:nvSpPr>
          <p:cNvPr id="8" name="Text 6"/>
          <p:cNvSpPr/>
          <p:nvPr/>
        </p:nvSpPr>
        <p:spPr>
          <a:xfrm>
            <a:off x="5906170" y="1867644"/>
            <a:ext cx="1477863" cy="184696"/>
          </a:xfrm>
          <a:prstGeom prst="rect">
            <a:avLst/>
          </a:prstGeom>
          <a:noFill/>
          <a:ln/>
        </p:spPr>
        <p:txBody>
          <a:bodyPr wrap="none" lIns="0" tIns="0" rIns="0" bIns="0" rtlCol="0" anchor="t"/>
          <a:lstStyle/>
          <a:p>
            <a:pPr algn="ctr"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Notebooks</a:t>
            </a:r>
            <a:endParaRPr lang="en-US" sz="1150" dirty="0"/>
          </a:p>
        </p:txBody>
      </p:sp>
      <p:sp>
        <p:nvSpPr>
          <p:cNvPr id="9" name="Text 7"/>
          <p:cNvSpPr/>
          <p:nvPr/>
        </p:nvSpPr>
        <p:spPr>
          <a:xfrm>
            <a:off x="4642396" y="2119908"/>
            <a:ext cx="4005486" cy="184696"/>
          </a:xfrm>
          <a:prstGeom prst="rect">
            <a:avLst/>
          </a:prstGeom>
          <a:noFill/>
          <a:ln/>
        </p:spPr>
        <p:txBody>
          <a:bodyPr wrap="none" lIns="0" tIns="0" rIns="0" bIns="0" rtlCol="0" anchor="t"/>
          <a:lstStyle/>
          <a:p>
            <a:pPr algn="ctr" indent="0" marL="0">
              <a:lnSpc>
                <a:spcPct val="130000"/>
              </a:lnSpc>
              <a:buNone/>
            </a:pPr>
            <a:r>
              <a:rPr lang="en-US" sz="900" dirty="0">
                <a:solidFill>
                  <a:srgbClr val="4C4C4D"/>
                </a:solidFill>
                <a:latin typeface="Heebo" pitchFamily="34" charset="0"/>
                <a:ea typeface="Heebo" pitchFamily="34" charset="-122"/>
                <a:cs typeface="Heebo" pitchFamily="34" charset="-120"/>
              </a:rPr>
              <a:t>Documented research and code</a:t>
            </a:r>
            <a:endParaRPr lang="en-US" sz="900" dirty="0"/>
          </a:p>
        </p:txBody>
      </p:sp>
      <p:sp>
        <p:nvSpPr>
          <p:cNvPr id="10" name="Text 8"/>
          <p:cNvSpPr/>
          <p:nvPr/>
        </p:nvSpPr>
        <p:spPr>
          <a:xfrm>
            <a:off x="496119" y="2589014"/>
            <a:ext cx="4005486" cy="390153"/>
          </a:xfrm>
          <a:prstGeom prst="rect">
            <a:avLst/>
          </a:prstGeom>
          <a:noFill/>
          <a:ln/>
        </p:spPr>
        <p:txBody>
          <a:bodyPr wrap="none" lIns="0" tIns="0" rIns="0" bIns="0" rtlCol="0" anchor="t"/>
          <a:lstStyle/>
          <a:p>
            <a:pPr algn="ctr" indent="0" marL="0">
              <a:lnSpc>
                <a:spcPct val="83000"/>
              </a:lnSpc>
              <a:buNone/>
            </a:pPr>
            <a:r>
              <a:rPr lang="en-US" sz="3050" dirty="0">
                <a:solidFill>
                  <a:srgbClr val="4C4C4D"/>
                </a:solidFill>
                <a:latin typeface="Crimson Pro SemiBold" pitchFamily="34" charset="0"/>
                <a:ea typeface="Crimson Pro SemiBold" pitchFamily="34" charset="-122"/>
                <a:cs typeface="Crimson Pro SemiBold" pitchFamily="34" charset="-120"/>
              </a:rPr>
              <a:t>18.6s</a:t>
            </a:r>
            <a:endParaRPr lang="en-US" sz="3050" dirty="0"/>
          </a:p>
        </p:txBody>
      </p:sp>
      <p:sp>
        <p:nvSpPr>
          <p:cNvPr id="11" name="Text 9"/>
          <p:cNvSpPr/>
          <p:nvPr/>
        </p:nvSpPr>
        <p:spPr>
          <a:xfrm>
            <a:off x="1759893" y="3122712"/>
            <a:ext cx="1477863" cy="184696"/>
          </a:xfrm>
          <a:prstGeom prst="rect">
            <a:avLst/>
          </a:prstGeom>
          <a:noFill/>
          <a:ln/>
        </p:spPr>
        <p:txBody>
          <a:bodyPr wrap="none" lIns="0" tIns="0" rIns="0" bIns="0" rtlCol="0" anchor="t"/>
          <a:lstStyle/>
          <a:p>
            <a:pPr algn="ctr"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MAE</a:t>
            </a:r>
            <a:endParaRPr lang="en-US" sz="1150" dirty="0"/>
          </a:p>
        </p:txBody>
      </p:sp>
      <p:sp>
        <p:nvSpPr>
          <p:cNvPr id="12" name="Text 10"/>
          <p:cNvSpPr/>
          <p:nvPr/>
        </p:nvSpPr>
        <p:spPr>
          <a:xfrm>
            <a:off x="496119" y="3374975"/>
            <a:ext cx="4005486" cy="184696"/>
          </a:xfrm>
          <a:prstGeom prst="rect">
            <a:avLst/>
          </a:prstGeom>
          <a:noFill/>
          <a:ln/>
        </p:spPr>
        <p:txBody>
          <a:bodyPr wrap="none" lIns="0" tIns="0" rIns="0" bIns="0" rtlCol="0" anchor="t"/>
          <a:lstStyle/>
          <a:p>
            <a:pPr algn="ctr" indent="0" marL="0">
              <a:lnSpc>
                <a:spcPct val="130000"/>
              </a:lnSpc>
              <a:buNone/>
            </a:pPr>
            <a:r>
              <a:rPr lang="en-US" sz="900" dirty="0">
                <a:solidFill>
                  <a:srgbClr val="4C4C4D"/>
                </a:solidFill>
                <a:latin typeface="Heebo" pitchFamily="34" charset="0"/>
                <a:ea typeface="Heebo" pitchFamily="34" charset="-122"/>
                <a:cs typeface="Heebo" pitchFamily="34" charset="-120"/>
              </a:rPr>
              <a:t>Prediction accuracy with LightGBM v2</a:t>
            </a:r>
            <a:endParaRPr lang="en-US" sz="900" dirty="0"/>
          </a:p>
        </p:txBody>
      </p:sp>
      <p:sp>
        <p:nvSpPr>
          <p:cNvPr id="13" name="Text 11"/>
          <p:cNvSpPr/>
          <p:nvPr/>
        </p:nvSpPr>
        <p:spPr>
          <a:xfrm>
            <a:off x="4642396" y="2589014"/>
            <a:ext cx="4005486" cy="390153"/>
          </a:xfrm>
          <a:prstGeom prst="rect">
            <a:avLst/>
          </a:prstGeom>
          <a:noFill/>
          <a:ln/>
        </p:spPr>
        <p:txBody>
          <a:bodyPr wrap="none" lIns="0" tIns="0" rIns="0" bIns="0" rtlCol="0" anchor="t"/>
          <a:lstStyle/>
          <a:p>
            <a:pPr algn="ctr" indent="0" marL="0">
              <a:lnSpc>
                <a:spcPct val="83000"/>
              </a:lnSpc>
              <a:buNone/>
            </a:pPr>
            <a:r>
              <a:rPr lang="en-US" sz="3050" dirty="0">
                <a:solidFill>
                  <a:srgbClr val="4C4C4D"/>
                </a:solidFill>
                <a:latin typeface="Crimson Pro SemiBold" pitchFamily="34" charset="0"/>
                <a:ea typeface="Crimson Pro SemiBold" pitchFamily="34" charset="-122"/>
                <a:cs typeface="Crimson Pro SemiBold" pitchFamily="34" charset="-120"/>
              </a:rPr>
              <a:t>-63%</a:t>
            </a:r>
            <a:endParaRPr lang="en-US" sz="3050" dirty="0"/>
          </a:p>
        </p:txBody>
      </p:sp>
      <p:sp>
        <p:nvSpPr>
          <p:cNvPr id="14" name="Text 12"/>
          <p:cNvSpPr/>
          <p:nvPr/>
        </p:nvSpPr>
        <p:spPr>
          <a:xfrm>
            <a:off x="5906170" y="3122712"/>
            <a:ext cx="1477863" cy="184696"/>
          </a:xfrm>
          <a:prstGeom prst="rect">
            <a:avLst/>
          </a:prstGeom>
          <a:noFill/>
          <a:ln/>
        </p:spPr>
        <p:txBody>
          <a:bodyPr wrap="none" lIns="0" tIns="0" rIns="0" bIns="0" rtlCol="0" anchor="t"/>
          <a:lstStyle/>
          <a:p>
            <a:pPr algn="ctr" indent="0" marL="0">
              <a:lnSpc>
                <a:spcPct val="104000"/>
              </a:lnSpc>
              <a:buNone/>
            </a:pPr>
            <a:r>
              <a:rPr lang="en-US" sz="1150" dirty="0">
                <a:solidFill>
                  <a:srgbClr val="4C4C4D"/>
                </a:solidFill>
                <a:latin typeface="Crimson Pro SemiBold" pitchFamily="34" charset="0"/>
                <a:ea typeface="Crimson Pro SemiBold" pitchFamily="34" charset="-122"/>
                <a:cs typeface="Crimson Pro SemiBold" pitchFamily="34" charset="-120"/>
              </a:rPr>
              <a:t>Improvement</a:t>
            </a:r>
            <a:endParaRPr lang="en-US" sz="1150" dirty="0"/>
          </a:p>
        </p:txBody>
      </p:sp>
      <p:sp>
        <p:nvSpPr>
          <p:cNvPr id="15" name="Text 13"/>
          <p:cNvSpPr/>
          <p:nvPr/>
        </p:nvSpPr>
        <p:spPr>
          <a:xfrm>
            <a:off x="4642396" y="3374975"/>
            <a:ext cx="4005486" cy="184696"/>
          </a:xfrm>
          <a:prstGeom prst="rect">
            <a:avLst/>
          </a:prstGeom>
          <a:noFill/>
          <a:ln/>
        </p:spPr>
        <p:txBody>
          <a:bodyPr wrap="none" lIns="0" tIns="0" rIns="0" bIns="0" rtlCol="0" anchor="t"/>
          <a:lstStyle/>
          <a:p>
            <a:pPr algn="ctr" indent="0" marL="0">
              <a:lnSpc>
                <a:spcPct val="130000"/>
              </a:lnSpc>
              <a:buNone/>
            </a:pPr>
            <a:r>
              <a:rPr lang="en-US" sz="900" dirty="0">
                <a:solidFill>
                  <a:srgbClr val="4C4C4D"/>
                </a:solidFill>
                <a:latin typeface="Heebo" pitchFamily="34" charset="0"/>
                <a:ea typeface="Heebo" pitchFamily="34" charset="-122"/>
                <a:cs typeface="Heebo" pitchFamily="34" charset="-120"/>
              </a:rPr>
              <a:t>Reduction in error vs. baseline</a:t>
            </a:r>
            <a:endParaRPr lang="en-US" sz="900" dirty="0"/>
          </a:p>
        </p:txBody>
      </p:sp>
      <p:sp>
        <p:nvSpPr>
          <p:cNvPr id="16" name="Text 14"/>
          <p:cNvSpPr/>
          <p:nvPr/>
        </p:nvSpPr>
        <p:spPr>
          <a:xfrm>
            <a:off x="267519" y="3686398"/>
            <a:ext cx="8608963" cy="184696"/>
          </a:xfrm>
          <a:prstGeom prst="rect">
            <a:avLst/>
          </a:prstGeom>
          <a:noFill/>
          <a:ln/>
        </p:spPr>
        <p:txBody>
          <a:bodyPr wrap="none" lIns="0" tIns="0" rIns="0" bIns="0" rtlCol="0" anchor="t"/>
          <a:lstStyle/>
          <a:p>
            <a:pPr algn="ctr" indent="0" marL="0">
              <a:lnSpc>
                <a:spcPct val="130000"/>
              </a:lnSpc>
              <a:buNone/>
            </a:pPr>
            <a:r>
              <a:rPr lang="en-US" sz="900" dirty="0">
                <a:solidFill>
                  <a:srgbClr val="4C4C4D"/>
                </a:solidFill>
                <a:latin typeface="Heebo" pitchFamily="34" charset="0"/>
                <a:ea typeface="Heebo" pitchFamily="34" charset="-122"/>
                <a:cs typeface="Heebo" pitchFamily="34" charset="-120"/>
              </a:rPr>
              <a:t>Explore the project further:</a:t>
            </a:r>
            <a:endParaRPr lang="en-US" sz="900" dirty="0"/>
          </a:p>
        </p:txBody>
      </p:sp>
      <p:pic>
        <p:nvPicPr>
          <p:cNvPr id="17" name="Image 0" descr="preencoded.png">
            <a:hlinkClick r:id="rId2" tooltip=""/>
          </p:cNvPr>
          <p:cNvPicPr>
            <a:picLocks noChangeAspect="1"/>
          </p:cNvPicPr>
          <p:nvPr/>
        </p:nvPicPr>
        <p:blipFill>
          <a:blip r:embed="rId1"/>
          <a:stretch>
            <a:fillRect/>
          </a:stretch>
        </p:blipFill>
        <p:spPr>
          <a:xfrm>
            <a:off x="2555379" y="3997821"/>
            <a:ext cx="1232595" cy="325115"/>
          </a:xfrm>
          <a:prstGeom prst="rect">
            <a:avLst/>
          </a:prstGeom>
        </p:spPr>
      </p:pic>
      <p:pic>
        <p:nvPicPr>
          <p:cNvPr id="18" name="Image 1" descr="preencoded.png">    </p:cNvPr>
          <p:cNvPicPr>
            <a:picLocks noChangeAspect="1"/>
          </p:cNvPicPr>
          <p:nvPr/>
        </p:nvPicPr>
        <p:blipFill>
          <a:blip r:embed="rId3"/>
          <a:stretch>
            <a:fillRect/>
          </a:stretch>
        </p:blipFill>
        <p:spPr>
          <a:xfrm>
            <a:off x="3847058" y="3997821"/>
            <a:ext cx="1460004" cy="325115"/>
          </a:xfrm>
          <a:prstGeom prst="rect">
            <a:avLst/>
          </a:prstGeom>
        </p:spPr>
      </p:pic>
      <p:pic>
        <p:nvPicPr>
          <p:cNvPr id="19" name="Image 2" descr="preencoded.png">    </p:cNvPr>
          <p:cNvPicPr>
            <a:picLocks noChangeAspect="1"/>
          </p:cNvPicPr>
          <p:nvPr/>
        </p:nvPicPr>
        <p:blipFill>
          <a:blip r:embed="rId4"/>
          <a:stretch>
            <a:fillRect/>
          </a:stretch>
        </p:blipFill>
        <p:spPr>
          <a:xfrm>
            <a:off x="5366147" y="3997821"/>
            <a:ext cx="1222400" cy="325115"/>
          </a:xfrm>
          <a:prstGeom prst="rect">
            <a:avLst/>
          </a:prstGeom>
        </p:spPr>
      </p:pic>
      <p:pic>
        <p:nvPicPr>
          <p:cNvPr id="20" name="Image 3" descr="preencoded.png">
            <a:hlinkClick r:id="rId6" tooltip=""/>
          </p:cNvPr>
          <p:cNvPicPr>
            <a:picLocks noChangeAspect="1"/>
          </p:cNvPicPr>
          <p:nvPr/>
        </p:nvPicPr>
        <p:blipFill>
          <a:blip r:embed="rId5"/>
          <a:stretch>
            <a:fillRect/>
          </a:stretch>
        </p:blipFill>
        <p:spPr>
          <a:xfrm>
            <a:off x="3971255" y="4449663"/>
            <a:ext cx="1201489" cy="3251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2150FE"/>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2026-06-17T10:57:46Z</dcterms:created>
  <dcterms:modified xsi:type="dcterms:W3CDTF">2026-06-17T10:57:46Z</dcterms:modified>
</cp:coreProperties>
</file>