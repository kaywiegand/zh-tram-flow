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Source Sans 3 ExtraLight"/>
      <p:regular r:id="rId201314"/>
    </p:embeddedFont>
    <p:embeddedFont>
      <p:font typeface="Source Sans 3 Light"/>
      <p:regular r:id="rId201315"/>
    </p:embeddedFont>
    <p:embeddedFont>
      <p:font typeface="Source Sans 3"/>
      <p:regular r:id="rId201316"/>
    </p:embeddedFont>
    <p:embeddedFont>
      <p:font typeface="Source Sans 3 Medium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  <p:embeddedFont>
      <p:font typeface="Source Sans 3 ExtraBold"/>
      <p:regular r:id="rId201320"/>
    </p:embeddedFont>
    <p:embeddedFont>
      <p:font typeface="Source Sans 3 Black"/>
      <p:regular r:id="rId201321"/>
    </p:embeddedFont>
    <p:embeddedFont>
      <p:font typeface="Space Grotesk Light"/>
      <p:regular r:id="rId201322"/>
    </p:embeddedFont>
    <p:embeddedFont>
      <p:font typeface="Space Grotesk"/>
      <p:regular r:id="rId201323"/>
    </p:embeddedFont>
    <p:embeddedFont>
      <p:font typeface="Space Grotesk Medium"/>
      <p:regular r:id="rId201324"/>
    </p:embeddedFont>
    <p:embeddedFont>
      <p:font typeface="Space Grotesk SemiBold"/>
      <p:regular r:id="rId201325"/>
    </p:embeddedFont>
    <p:embeddedFont>
      <p:font typeface="Space Grotesk Bold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ywiegand/zh-tram-flow" TargetMode="External"/><Relationship Id="rId4" Type="http://schemas.openxmlformats.org/officeDocument/2006/relationships/hyperlink" Target="https://github.com/kaywiegand/zh-tram-flow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284982"/>
            <a:ext cx="1147813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56782" y="1698327"/>
            <a:ext cx="11478132" cy="1116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87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Zürich Tram Flow</a:t>
            </a:r>
            <a:endParaRPr lang="en-US" sz="8750" dirty="0"/>
          </a:p>
        </p:txBody>
      </p:sp>
      <p:sp>
        <p:nvSpPr>
          <p:cNvPr id="4" name="Text 2"/>
          <p:cNvSpPr/>
          <p:nvPr/>
        </p:nvSpPr>
        <p:spPr>
          <a:xfrm>
            <a:off x="356782" y="3062784"/>
            <a:ext cx="1147813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Technischer Deep Dive · Data Engineering · EDA · Feature Engineering · LightGBM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0583" y="3496866"/>
            <a:ext cx="2110528" cy="4548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574" y="4137720"/>
            <a:ext cx="1147813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574" y="4571802"/>
            <a:ext cx="2593116" cy="1150045"/>
          </a:xfrm>
          <a:prstGeom prst="roundRect">
            <a:avLst>
              <a:gd name="adj" fmla="val 12943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918" y="475615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94.4M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5918" y="5041404"/>
            <a:ext cx="222442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Halt-Ereignisse aus 4 Datenquellen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19985" y="4571802"/>
            <a:ext cx="2593216" cy="1150045"/>
          </a:xfrm>
          <a:prstGeom prst="roundRect">
            <a:avLst>
              <a:gd name="adj" fmla="val 12943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04329" y="475615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50.0s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604329" y="5041404"/>
            <a:ext cx="222452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Baseline MAE (Stop Mean)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8495" y="4571802"/>
            <a:ext cx="2593116" cy="1150045"/>
          </a:xfrm>
          <a:prstGeom prst="roundRect">
            <a:avLst>
              <a:gd name="adj" fmla="val 12943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2838" y="475615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18.6s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362838" y="5041404"/>
            <a:ext cx="222442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LightGBM v2 MAE (Test 2025)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36905" y="4571802"/>
            <a:ext cx="2593216" cy="1150045"/>
          </a:xfrm>
          <a:prstGeom prst="roundRect">
            <a:avLst>
              <a:gd name="adj" fmla="val 12943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1249" y="475615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−63%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121249" y="5041404"/>
            <a:ext cx="222452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Verbesserung vs. Baseline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1895773"/>
            <a:ext cx="1440223" cy="323155"/>
          </a:xfrm>
          <a:prstGeom prst="roundRect">
            <a:avLst>
              <a:gd name="adj" fmla="val 36850"/>
            </a:avLst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490" y="1958082"/>
            <a:ext cx="182597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AUSGANGSSITUATION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2285008"/>
            <a:ext cx="6949207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OTP-Lücke und strukturelles Defizit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574" y="2905224"/>
            <a:ext cx="10868547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Ziel: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highlight>
                  <a:srgbClr val="1C21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arrival_delay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Sekunden vorhersagen — direkt kommunizierbar, kein Schwellwert-Bias. Temporaler Split (kein Shuffle): Train 2023–Jun 2024 / Val Jul–Dez 2024 / Test 2025.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574" y="3676352"/>
            <a:ext cx="2562062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87%</a:t>
            </a:r>
            <a:endParaRPr lang="en-US" sz="4250" dirty="0"/>
          </a:p>
        </p:txBody>
      </p:sp>
      <p:sp>
        <p:nvSpPr>
          <p:cNvPr id="7" name="Text 5"/>
          <p:cNvSpPr/>
          <p:nvPr/>
        </p:nvSpPr>
        <p:spPr>
          <a:xfrm>
            <a:off x="1012304" y="4428827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OTP netzweit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574" y="4714081"/>
            <a:ext cx="256206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Pünktlichkeitsrate 2023–2025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30303" y="3676352"/>
            <a:ext cx="256216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−8 PP</a:t>
            </a:r>
            <a:endParaRPr lang="en-US" sz="4250" dirty="0"/>
          </a:p>
        </p:txBody>
      </p:sp>
      <p:sp>
        <p:nvSpPr>
          <p:cNvPr id="10" name="Text 8"/>
          <p:cNvSpPr/>
          <p:nvPr/>
        </p:nvSpPr>
        <p:spPr>
          <a:xfrm>
            <a:off x="3781033" y="4428827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Lücke zum Ziel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30303" y="4714081"/>
            <a:ext cx="256216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VBZ-Ziel 95% bis 2028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9132" y="3676352"/>
            <a:ext cx="256216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56.3s</a:t>
            </a:r>
            <a:endParaRPr lang="en-US" sz="4250" dirty="0"/>
          </a:p>
        </p:txBody>
      </p:sp>
      <p:sp>
        <p:nvSpPr>
          <p:cNvPr id="13" name="Text 11"/>
          <p:cNvSpPr/>
          <p:nvPr/>
        </p:nvSpPr>
        <p:spPr>
          <a:xfrm>
            <a:off x="6471778" y="4428827"/>
            <a:ext cx="20167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Ø Ankunftsverspätung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99132" y="4714081"/>
            <a:ext cx="256216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Netzweit über alle Halte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7960" y="3676352"/>
            <a:ext cx="2562161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71.5%</a:t>
            </a:r>
            <a:endParaRPr lang="en-US" sz="4250" dirty="0"/>
          </a:p>
        </p:txBody>
      </p:sp>
      <p:sp>
        <p:nvSpPr>
          <p:cNvPr id="16" name="Text 14"/>
          <p:cNvSpPr/>
          <p:nvPr/>
        </p:nvSpPr>
        <p:spPr>
          <a:xfrm>
            <a:off x="9121051" y="4428827"/>
            <a:ext cx="225588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Halte akkumulieren Delay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7960" y="4714081"/>
            <a:ext cx="256216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Strukturelles Verspätungsmuster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67742"/>
            <a:ext cx="3772599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Datenstrategie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574" y="1103511"/>
            <a:ext cx="3917455" cy="497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Vier Quellen, ein temporaler Join, 94.4 Millionen Zeilen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574" y="1735435"/>
            <a:ext cx="3329797" cy="44398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28270" y="655737"/>
            <a:ext cx="7217785" cy="19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28270" y="985143"/>
            <a:ext cx="28108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28270" y="1169789"/>
            <a:ext cx="3244372" cy="19050"/>
          </a:xfrm>
          <a:prstGeom prst="rect">
            <a:avLst/>
          </a:prstGeom>
          <a:solidFill>
            <a:srgbClr val="42A1AD"/>
          </a:solidFill>
          <a:ln/>
        </p:spPr>
      </p:sp>
      <p:sp>
        <p:nvSpPr>
          <p:cNvPr id="8" name="Text 5"/>
          <p:cNvSpPr/>
          <p:nvPr/>
        </p:nvSpPr>
        <p:spPr>
          <a:xfrm>
            <a:off x="4928270" y="1278136"/>
            <a:ext cx="2178194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VBZ IST-Daten (Primärquelle)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28270" y="1555750"/>
            <a:ext cx="3244372" cy="105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Reale Ankunfts- und Abfahrtszeiten aller Tramhalte 2023–2025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Granularität: Fahrt × Haltestelle × Timestamp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Canceled-Fahrten bewusst behalten (relevante Extremfälle)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92099" y="985143"/>
            <a:ext cx="28108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92099" y="1169789"/>
            <a:ext cx="3244372" cy="19050"/>
          </a:xfrm>
          <a:prstGeom prst="rect">
            <a:avLst/>
          </a:prstGeom>
          <a:solidFill>
            <a:srgbClr val="42A1AD"/>
          </a:solidFill>
          <a:ln/>
        </p:spPr>
      </p:sp>
      <p:sp>
        <p:nvSpPr>
          <p:cNvPr id="12" name="Text 9"/>
          <p:cNvSpPr/>
          <p:nvPr/>
        </p:nvSpPr>
        <p:spPr>
          <a:xfrm>
            <a:off x="8292099" y="1278136"/>
            <a:ext cx="1646196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GTFS (Fahrplandaten)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92099" y="1555750"/>
            <a:ext cx="3244372" cy="105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Geplante Ankunfts-/Abfahrtszeiten, dwell_time, stop_sequence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Liniengeometrien und Haltestellen-Koordinaten (lat/lon)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Join-Key: trip_id × stop_id × service_date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28270" y="2839442"/>
            <a:ext cx="28108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28270" y="3024088"/>
            <a:ext cx="3244372" cy="19050"/>
          </a:xfrm>
          <a:prstGeom prst="rect">
            <a:avLst/>
          </a:prstGeom>
          <a:solidFill>
            <a:srgbClr val="42A1AD"/>
          </a:solidFill>
          <a:ln/>
        </p:spPr>
      </p:sp>
      <p:sp>
        <p:nvSpPr>
          <p:cNvPr id="16" name="Text 13"/>
          <p:cNvSpPr/>
          <p:nvPr/>
        </p:nvSpPr>
        <p:spPr>
          <a:xfrm>
            <a:off x="4928270" y="3132435"/>
            <a:ext cx="158150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Meteo Schweiz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28270" y="3410049"/>
            <a:ext cx="3244372" cy="863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Stündliche Messwerte: Temperatur, Niederschlag, Wind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Join über Zeitstempel (hour-level) auf IST-Daten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Flags: has_rain, has_snow, has_heavy_rain, is_hot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92099" y="2839442"/>
            <a:ext cx="28108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FC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92099" y="3024088"/>
            <a:ext cx="3244372" cy="19050"/>
          </a:xfrm>
          <a:prstGeom prst="rect">
            <a:avLst/>
          </a:prstGeom>
          <a:solidFill>
            <a:srgbClr val="42A1AD"/>
          </a:solidFill>
          <a:ln/>
        </p:spPr>
      </p:sp>
      <p:sp>
        <p:nvSpPr>
          <p:cNvPr id="20" name="Text 17"/>
          <p:cNvSpPr/>
          <p:nvPr/>
        </p:nvSpPr>
        <p:spPr>
          <a:xfrm>
            <a:off x="8292099" y="3132435"/>
            <a:ext cx="1581507" cy="1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Event-Kalender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92099" y="3410049"/>
            <a:ext cx="3244372" cy="1253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Grossveranstaltungen Zürich 2023–2025: Konzerte, Messen, Sport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Kategorisierung: event_type, event_size, event_weight</a:t>
            </a:r>
            <a:endParaRPr lang="en-US" sz="1100" dirty="0"/>
          </a:p>
          <a:p>
            <a:pPr algn="l" marL="342900" indent="-342900">
              <a:lnSpc>
                <a:spcPct val="116000"/>
              </a:lnSpc>
              <a:buSzPct val="100000"/>
              <a:buChar char="•"/>
            </a:pPr>
            <a:r>
              <a:rPr lang="en-US" sz="11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Ergebnis: 94.4 Mio. Zeilen · 26 Features · 541 MB Parquet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0336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574" y="2430661"/>
            <a:ext cx="4330790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Baseline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574" y="3050877"/>
            <a:ext cx="1147813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Stop Mean als sinnvollster naiver Benchmark — jedes Modell muss diesen schlagen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574" y="3526234"/>
            <a:ext cx="10868547" cy="20638"/>
          </a:xfrm>
          <a:prstGeom prst="roundRect">
            <a:avLst>
              <a:gd name="adj" fmla="val 721253"/>
            </a:avLst>
          </a:prstGeom>
          <a:solidFill>
            <a:srgbClr val="CFCFCF">
              <a:alpha val="5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574" y="3774182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574" y="4394299"/>
            <a:ext cx="223276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Stop Mean gewinnt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61574" y="4716760"/>
            <a:ext cx="348507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Haltestellen haben strukturell unterschiedliche Delay-Level — der Halt selbst ist das stärkste naive Signal.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312" y="3774182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53312" y="4394299"/>
            <a:ext cx="264718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Grand / Hour / Line Mean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4353312" y="4716760"/>
            <a:ext cx="34850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Alle alternativen Mittelwert-Strategien liegen &lt; 1s voneinander entfernt — kein messbarer Vorteil.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5050" y="3774182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5050" y="4394299"/>
            <a:ext cx="223276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42A1A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MAE 50.0s als Hürde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045050" y="4716760"/>
            <a:ext cx="348507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Der Stop Mean MAE von 50.0s ist der klare, direkt kommunizierbare Benchmark für alle Modellversionen.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830262"/>
            <a:ext cx="1524855" cy="323155"/>
          </a:xfrm>
          <a:prstGeom prst="roundRect">
            <a:avLst>
              <a:gd name="adj" fmla="val 36850"/>
            </a:avLst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490" y="892572"/>
            <a:ext cx="1910608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219498"/>
            <a:ext cx="10868547" cy="74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34 Features v1 · 36 Features v2 — der entscheidende Unterschied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61574" y="2211884"/>
            <a:ext cx="1147813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574" y="4336852"/>
            <a:ext cx="10868547" cy="1905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7" name="Shape 5"/>
          <p:cNvSpPr/>
          <p:nvPr/>
        </p:nvSpPr>
        <p:spPr>
          <a:xfrm>
            <a:off x="2763669" y="3840758"/>
            <a:ext cx="19050" cy="496094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8" name="Shape 6"/>
          <p:cNvSpPr/>
          <p:nvPr/>
        </p:nvSpPr>
        <p:spPr>
          <a:xfrm>
            <a:off x="2587163" y="415081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1576" y="4225230"/>
            <a:ext cx="223237" cy="2232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08008" y="2645966"/>
            <a:ext cx="213047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Temporale Features (v1)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6868" y="2931220"/>
            <a:ext cx="389275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hour, weekday, month, season, year · is_weekend, is_november, is_holiday · is_late_night_weekend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78772" y="4336852"/>
            <a:ext cx="19050" cy="496094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2266" y="415081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678" y="4225230"/>
            <a:ext cx="223237" cy="2232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7945" y="4998343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Netz-Features (v1)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041872" y="5283597"/>
            <a:ext cx="389284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line_name, stop_name (native categoricals) · district_nr, n_lines_at_stop · is_start_stop, is_end_stop, dwell_time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193775" y="3840758"/>
            <a:ext cx="19050" cy="496094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18" name="Shape 14"/>
          <p:cNvSpPr/>
          <p:nvPr/>
        </p:nvSpPr>
        <p:spPr>
          <a:xfrm>
            <a:off x="7017269" y="415081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1681" y="4225230"/>
            <a:ext cx="223237" cy="2232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2411" y="2645966"/>
            <a:ext cx="19016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Externe Features (v1)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56875" y="2931220"/>
            <a:ext cx="389284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temperature, precipitation, wind_speed · has_rain, has_heavy_rain, has_snow · has_event, event_type, event_size, event_weight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408877" y="4336852"/>
            <a:ext cx="19050" cy="496094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23" name="Shape 18"/>
          <p:cNvSpPr/>
          <p:nvPr/>
        </p:nvSpPr>
        <p:spPr>
          <a:xfrm>
            <a:off x="9232371" y="415081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06784" y="4225230"/>
            <a:ext cx="223237" cy="2232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051797" y="4998343"/>
            <a:ext cx="273321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Kaskaden-Features (neu in v2)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7471977" y="5283597"/>
            <a:ext cx="389284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prev_trip_delay: Verspätung des Vorgänger-Trips — echtzeit-verfügbar · stop_sequence_pct: normierter Streckenfortschritt (0–1) · MAE 45.7s → 18.6s, −63%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20204"/>
            <a:ext cx="3947518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Modellauswahl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574" y="958751"/>
            <a:ext cx="3947518" cy="33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und Anpassung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574" y="1460103"/>
            <a:ext cx="52448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574" y="1663005"/>
            <a:ext cx="4635285" cy="441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Der MAE-Sprung von 45.7s auf 18.6s erklärt sich vollständig durch </a:t>
            </a:r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CFCFCF"/>
                </a:solidFill>
                <a:highlight>
                  <a:srgbClr val="1C21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prev_trip_delay</a:t>
            </a:r>
            <a:pPr algn="l" indent="0" marL="0">
              <a:lnSpc>
                <a:spcPct val="8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— das Signal steckt in den Daten, nicht im Algorithmus.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574" y="2174677"/>
            <a:ext cx="524487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61574" y="2386310"/>
            <a:ext cx="4635285" cy="445294"/>
          </a:xfrm>
          <a:prstGeom prst="roundRect">
            <a:avLst>
              <a:gd name="adj" fmla="val 21728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25" y="2521744"/>
            <a:ext cx="134339" cy="1074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0815" y="2475905"/>
            <a:ext cx="4178592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v1 war systematisch zu optimistisch (MBE +8.3s). v2 mit Isotonic-Regression-Kalibrierung: MBE −0.69s.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375042" y="2174478"/>
            <a:ext cx="132225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18.6s</a:t>
            </a:r>
            <a:endParaRPr lang="en-US" sz="2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988" y="1502668"/>
            <a:ext cx="1612562" cy="16126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90421" y="3211909"/>
            <a:ext cx="1291597" cy="1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9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LightGBM v2 Test MAE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565338" y="3402707"/>
            <a:ext cx="2941862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Finales Modell, Test-Set 2025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9404214" y="2174478"/>
            <a:ext cx="132225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18 Min</a:t>
            </a:r>
            <a:endParaRPr lang="en-US" sz="2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160" y="1502668"/>
            <a:ext cx="1612562" cy="16126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94689" y="3211909"/>
            <a:ext cx="1341404" cy="1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9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LightGBM Trainingszeit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594510" y="3402707"/>
            <a:ext cx="2941862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Auf 85M Zeilen — iterativ einsetzbar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89578" y="4374059"/>
            <a:ext cx="1322255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~21.4s</a:t>
            </a:r>
            <a:endParaRPr lang="en-US" sz="2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524" y="3702248"/>
            <a:ext cx="1612562" cy="16126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46132" y="5411490"/>
            <a:ext cx="1209347" cy="1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9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XGBoost Val MAE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7079874" y="5602288"/>
            <a:ext cx="2941862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Vergleichbare Qualität, 5× mehr Zeit (90+ Min)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5565338" y="5813921"/>
            <a:ext cx="5971033" cy="445294"/>
          </a:xfrm>
          <a:prstGeom prst="roundRect">
            <a:avLst>
              <a:gd name="adj" fmla="val 21728"/>
            </a:avLst>
          </a:prstGeom>
          <a:solidFill>
            <a:srgbClr val="15343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2789" y="5949355"/>
            <a:ext cx="134339" cy="1074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14579" y="5903516"/>
            <a:ext cx="551434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LightGBM ist die klar überlegene Wahl für iteratives Feature Engineering — das ist eine Workflow-Entscheidung, keine Qualitätskompromittierung.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0977"/>
            <a:ext cx="7567126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Feature Importance &amp; Produktionsreife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1131193"/>
            <a:ext cx="7820822" cy="936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highlight>
                  <a:srgbClr val="1C212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prev_trip_delay</a:t>
            </a:r>
            <a:pPr algn="l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dominiert — die Kaskadenanalyse (r ≥ 0.85 netzweit) hat die Feature-Wichtigkeit korrekt antizipiert. Das Modell bestätigt: das Signal steckt in den Daten.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62361" y="2253754"/>
            <a:ext cx="19050" cy="409317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6" name="Shape 3"/>
          <p:cNvSpPr/>
          <p:nvPr/>
        </p:nvSpPr>
        <p:spPr>
          <a:xfrm>
            <a:off x="3908823" y="2430264"/>
            <a:ext cx="496081" cy="1905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7" name="Shape 4"/>
          <p:cNvSpPr/>
          <p:nvPr/>
        </p:nvSpPr>
        <p:spPr>
          <a:xfrm>
            <a:off x="4385855" y="2253754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60267" y="2328168"/>
            <a:ext cx="22323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512254" y="2315766"/>
            <a:ext cx="223276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Feature Importance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61475" y="2638227"/>
            <a:ext cx="3083542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prev_trip_delay dominiert das Modell. stop_sequence_pct generalisiert linienübergreifend. Temporale und Netz-Features ergänzen konsistent.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38867" y="3422452"/>
            <a:ext cx="496081" cy="1905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12" name="Shape 9"/>
          <p:cNvSpPr/>
          <p:nvPr/>
        </p:nvSpPr>
        <p:spPr>
          <a:xfrm>
            <a:off x="4385855" y="324594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0267" y="3320355"/>
            <a:ext cx="22323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5398754" y="3307953"/>
            <a:ext cx="223276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Produktionsreif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398754" y="3630414"/>
            <a:ext cx="3083542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Temporaler Split ohne Leakage. Isotonic-Kalibrierung reduziert systematischen Bias. prev_trip_delay ist echtzeit-verfügbar am Betriebshalt.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908823" y="4280297"/>
            <a:ext cx="496081" cy="1905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5855" y="4103787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60267" y="4178201"/>
            <a:ext cx="22323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512254" y="4165798"/>
            <a:ext cx="2232763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Offen bleibt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61475" y="4488259"/>
            <a:ext cx="308354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Online-Learning für Drift. Fahrgastzahlen als zusätzliches Signal. Deployment-Infrastruktur und Monitoring-Pipeline.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38867" y="5138241"/>
            <a:ext cx="496081" cy="19050"/>
          </a:xfrm>
          <a:prstGeom prst="roundRect">
            <a:avLst>
              <a:gd name="adj" fmla="val 781376"/>
            </a:avLst>
          </a:prstGeom>
          <a:solidFill>
            <a:srgbClr val="288793"/>
          </a:solidFill>
          <a:ln/>
        </p:spPr>
      </p:sp>
      <p:sp>
        <p:nvSpPr>
          <p:cNvPr id="22" name="Shape 19"/>
          <p:cNvSpPr/>
          <p:nvPr/>
        </p:nvSpPr>
        <p:spPr>
          <a:xfrm>
            <a:off x="4385855" y="496173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42A1AD"/>
          </a:solidFill>
          <a:ln w="19050">
            <a:solidFill>
              <a:srgbClr val="2887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60267" y="5036145"/>
            <a:ext cx="22323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5398754" y="5023743"/>
            <a:ext cx="271078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Handlungsempfehlungen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5398754" y="5346204"/>
            <a:ext cx="308354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Vier Empfehlungen, jede direkt durch Modell oder Analyse gedeckt — fokussiert auf VBZ-Ziel 95% bis 2028.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54968"/>
            <a:ext cx="4330790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Zürich Tram Flow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1293217"/>
            <a:ext cx="4311443" cy="297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Kay Wiegand · 2023–2025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61475" y="1839020"/>
            <a:ext cx="6296860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FC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ML-Projekt zur Vorhersage von Tramverspätungen im Zürcher Netz. GitHub: </a:t>
            </a:r>
            <a:pPr algn="l" indent="0" marL="0">
              <a:lnSpc>
                <a:spcPct val="125000"/>
              </a:lnSpc>
              <a:spcAft>
                <a:spcPts val="1450"/>
              </a:spcAft>
              <a:buNone/>
            </a:pPr>
            <a:r>
              <a:rPr lang="en-US" sz="1300" u="sng" dirty="0">
                <a:solidFill>
                  <a:srgbClr val="2A666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kaywiegand/zh-tram-flow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037880"/>
            <a:ext cx="196110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94.4M</a:t>
            </a:r>
            <a:endParaRPr lang="en-US" sz="4250" dirty="0"/>
          </a:p>
        </p:txBody>
      </p:sp>
      <p:sp>
        <p:nvSpPr>
          <p:cNvPr id="7" name="Text 4"/>
          <p:cNvSpPr/>
          <p:nvPr/>
        </p:nvSpPr>
        <p:spPr>
          <a:xfrm>
            <a:off x="711678" y="3790355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Halt-Ereignisse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829251" y="3037880"/>
            <a:ext cx="196120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41.2M</a:t>
            </a:r>
            <a:endParaRPr lang="en-US" sz="4250" dirty="0"/>
          </a:p>
        </p:txBody>
      </p:sp>
      <p:sp>
        <p:nvSpPr>
          <p:cNvPr id="9" name="Text 6"/>
          <p:cNvSpPr/>
          <p:nvPr/>
        </p:nvSpPr>
        <p:spPr>
          <a:xfrm>
            <a:off x="2879554" y="3790355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Trainings-Fahrten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997127" y="3037880"/>
            <a:ext cx="196110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36</a:t>
            </a:r>
            <a:endParaRPr lang="en-US" sz="4250" dirty="0"/>
          </a:p>
        </p:txBody>
      </p:sp>
      <p:sp>
        <p:nvSpPr>
          <p:cNvPr id="11" name="Text 8"/>
          <p:cNvSpPr/>
          <p:nvPr/>
        </p:nvSpPr>
        <p:spPr>
          <a:xfrm>
            <a:off x="5047330" y="3790355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Features (v2)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745313" y="4389735"/>
            <a:ext cx="196120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18.6s</a:t>
            </a:r>
            <a:endParaRPr lang="en-US" sz="4250" dirty="0"/>
          </a:p>
        </p:txBody>
      </p:sp>
      <p:sp>
        <p:nvSpPr>
          <p:cNvPr id="13" name="Text 10"/>
          <p:cNvSpPr/>
          <p:nvPr/>
        </p:nvSpPr>
        <p:spPr>
          <a:xfrm>
            <a:off x="1795616" y="514221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MAE · LightGBM v2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913189" y="4389735"/>
            <a:ext cx="1961208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2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−63%</a:t>
            </a:r>
            <a:endParaRPr lang="en-US" sz="4250" dirty="0"/>
          </a:p>
        </p:txBody>
      </p:sp>
      <p:sp>
        <p:nvSpPr>
          <p:cNvPr id="15" name="Text 12"/>
          <p:cNvSpPr/>
          <p:nvPr/>
        </p:nvSpPr>
        <p:spPr>
          <a:xfrm>
            <a:off x="3963491" y="5142210"/>
            <a:ext cx="186060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450" dirty="0">
                <a:solidFill>
                  <a:srgbClr val="CFCFC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vs. Baseline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5514280"/>
            <a:ext cx="6906444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endParaRPr lang="en-US" sz="1300" dirty="0"/>
          </a:p>
        </p:txBody>
      </p:sp>
      <p:pic>
        <p:nvPicPr>
          <p:cNvPr id="17" name="Image 1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948363"/>
            <a:ext cx="1466516" cy="454819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638" y="5948363"/>
            <a:ext cx="1748191" cy="4548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A666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2026-06-17T11:52:48Z</dcterms:created>
  <dcterms:modified xsi:type="dcterms:W3CDTF">2026-06-17T11:52:48Z</dcterms:modified>
</cp:coreProperties>
</file>